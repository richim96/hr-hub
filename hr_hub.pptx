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6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7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8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5A4535"/>
                </a:solidFill>
                <a:latin typeface="Arial"/>
              </a:defRPr>
            </a:pPr>
            <a:r>
              <a:rPr sz="1000" b="0" i="0" u="none" strike="noStrike">
                <a:solidFill>
                  <a:srgbClr val="5A4535"/>
                </a:solidFill>
                <a:latin typeface="Arial"/>
              </a:rPr>
              <a:t>Attrition Rate by Satisfaction Bucket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%</c:v>
                </c:pt>
              </c:strCache>
            </c:strRef>
          </c:tx>
          <c:spPr>
            <a:solidFill>
              <a:srgbClr val="C055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A1F1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552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9705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48A7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FA49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ABDAA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0.0–0.2</c:v>
                  </c:pt>
                  <c:pt idx="1">
                    <c:v>0.2–0.4</c:v>
                  </c:pt>
                  <c:pt idx="2">
                    <c:v>0.4–0.6</c:v>
                  </c:pt>
                  <c:pt idx="3">
                    <c:v>0.6–0.8</c:v>
                  </c:pt>
                  <c:pt idx="4">
                    <c:v>0.8–1.0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63</c:v>
                </c:pt>
                <c:pt idx="1">
                  <c:v>48</c:v>
                </c:pt>
                <c:pt idx="2">
                  <c:v>22</c:v>
                </c:pt>
                <c:pt idx="3">
                  <c:v>12</c:v>
                </c:pt>
                <c:pt idx="4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A1F1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453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C8B89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453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E8DFD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5A4535"/>
                </a:solidFill>
                <a:latin typeface="Arial"/>
              </a:defRPr>
            </a:pPr>
            <a:r>
              <a:rPr sz="1000" b="0" i="0" u="none" strike="noStrike">
                <a:solidFill>
                  <a:srgbClr val="5A4535"/>
                </a:solidFill>
                <a:latin typeface="Arial"/>
              </a:rPr>
              <a:t>Attrition by Department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%</c:v>
                </c:pt>
              </c:strCache>
            </c:strRef>
          </c:tx>
          <c:spPr>
            <a:solidFill>
              <a:srgbClr val="A878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A1F1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HR</c:v>
                  </c:pt>
                  <c:pt idx="1">
                    <c:v>Accounting</c:v>
                  </c:pt>
                  <c:pt idx="2">
                    <c:v>Technical</c:v>
                  </c:pt>
                  <c:pt idx="3">
                    <c:v>Support</c:v>
                  </c:pt>
                  <c:pt idx="4">
                    <c:v>Sales</c:v>
                  </c:pt>
                  <c:pt idx="5">
                    <c:v>IT</c:v>
                  </c:pt>
                  <c:pt idx="6">
                    <c:v>Marketing</c:v>
                  </c:pt>
                  <c:pt idx="7">
                    <c:v>RandD</c:v>
                  </c:pt>
                  <c:pt idx="8">
                    <c:v>Management</c:v>
                  </c:pt>
                  <c:pt idx="9">
                    <c:v>Product_mng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29</c:v>
                </c:pt>
                <c:pt idx="1">
                  <c:v>27</c:v>
                </c:pt>
                <c:pt idx="2">
                  <c:v>26</c:v>
                </c:pt>
                <c:pt idx="3">
                  <c:v>25</c:v>
                </c:pt>
                <c:pt idx="4">
                  <c:v>25</c:v>
                </c:pt>
                <c:pt idx="5">
                  <c:v>23</c:v>
                </c:pt>
                <c:pt idx="6">
                  <c:v>23</c:v>
                </c:pt>
                <c:pt idx="7">
                  <c:v>15</c:v>
                </c:pt>
                <c:pt idx="8">
                  <c:v>15</c:v>
                </c:pt>
                <c:pt idx="9">
                  <c:v>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A1F1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A453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C8B89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453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E8DFD0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5A4535"/>
                </a:solidFill>
                <a:latin typeface="Arial"/>
              </a:defRPr>
            </a:pPr>
            <a:r>
              <a:rPr sz="900" b="0" i="0" u="none" strike="noStrike">
                <a:solidFill>
                  <a:srgbClr val="5A4535"/>
                </a:solidFill>
                <a:latin typeface="Arial"/>
              </a:rPr>
              <a:t>Attrition by Salary Level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%</c:v>
                </c:pt>
              </c:strCache>
            </c:strRef>
          </c:tx>
          <c:spPr>
            <a:solidFill>
              <a:srgbClr val="C055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A1F1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552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878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FAF6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Low</c:v>
                  </c:pt>
                  <c:pt idx="1">
                    <c:v>Medium</c:v>
                  </c:pt>
                  <c:pt idx="2">
                    <c:v>High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</c:v>
                </c:pt>
                <c:pt idx="1">
                  <c:v>20</c:v>
                </c:pt>
                <c:pt idx="2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A1F1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453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8B89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453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E8DFD0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5A4535"/>
                </a:solidFill>
                <a:latin typeface="Arial"/>
              </a:defRPr>
            </a:pPr>
            <a:r>
              <a:rPr sz="900" b="0" i="0" u="none" strike="noStrike">
                <a:solidFill>
                  <a:srgbClr val="5A4535"/>
                </a:solidFill>
                <a:latin typeface="Arial"/>
              </a:rPr>
              <a:t>Avg Monthly Hours vs Attrition %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%</c:v>
                </c:pt>
              </c:strCache>
            </c:strRef>
          </c:tx>
          <c:spPr>
            <a:solidFill>
              <a:srgbClr val="C0552A"/>
            </a:solidFill>
            <a:ln w="31750" cap="flat">
              <a:solidFill>
                <a:srgbClr val="C0552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552A"/>
              </a:solidFill>
              <a:ln w="9525" cap="flat">
                <a:solidFill>
                  <a:srgbClr val="C0552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&lt;150h</c:v>
                  </c:pt>
                  <c:pt idx="1">
                    <c:v>150-200h</c:v>
                  </c:pt>
                  <c:pt idx="2">
                    <c:v>200-250h</c:v>
                  </c:pt>
                  <c:pt idx="3">
                    <c:v>250-300h</c:v>
                  </c:pt>
                  <c:pt idx="4">
                    <c:v>&gt;300h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</c:v>
                </c:pt>
                <c:pt idx="1">
                  <c:v>12</c:v>
                </c:pt>
                <c:pt idx="2">
                  <c:v>18</c:v>
                </c:pt>
                <c:pt idx="3">
                  <c:v>35</c:v>
                </c:pt>
                <c:pt idx="4">
                  <c:v>50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453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8B89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453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E8DFD0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5A4535"/>
                </a:solidFill>
                <a:latin typeface="Arial"/>
              </a:defRPr>
            </a:pPr>
            <a:r>
              <a:rPr sz="900" b="0" i="0" u="none" strike="noStrike">
                <a:solidFill>
                  <a:srgbClr val="5A4535"/>
                </a:solidFill>
                <a:latin typeface="Arial"/>
              </a:rPr>
              <a:t>Active Projects vs Attrition % (U-shape)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%</c:v>
                </c:pt>
              </c:strCache>
            </c:strRef>
          </c:tx>
          <c:spPr>
            <a:solidFill>
              <a:srgbClr val="A8784A"/>
            </a:solidFill>
            <a:ln w="31750" cap="flat">
              <a:solidFill>
                <a:srgbClr val="A878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8784A"/>
              </a:solidFill>
              <a:ln w="9525" cap="flat">
                <a:solidFill>
                  <a:srgbClr val="A878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</c:v>
                  </c:pt>
                  <c:pt idx="1">
                    <c:v>3</c:v>
                  </c:pt>
                  <c:pt idx="2">
                    <c:v>4</c:v>
                  </c:pt>
                  <c:pt idx="3">
                    <c:v>5</c:v>
                  </c:pt>
                  <c:pt idx="4">
                    <c:v>6</c:v>
                  </c:pt>
                  <c:pt idx="5">
                    <c:v>7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53</c:v>
                </c:pt>
                <c:pt idx="1">
                  <c:v>15</c:v>
                </c:pt>
                <c:pt idx="2">
                  <c:v>12</c:v>
                </c:pt>
                <c:pt idx="3">
                  <c:v>18</c:v>
                </c:pt>
                <c:pt idx="4">
                  <c:v>25</c:v>
                </c:pt>
                <c:pt idx="5">
                  <c:v>62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453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8B89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453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E8DFD0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5A4535"/>
                </a:solidFill>
                <a:latin typeface="Arial"/>
              </a:defRPr>
            </a:pPr>
            <a:r>
              <a:rPr sz="1000" b="0" i="0" u="none" strike="noStrike">
                <a:solidFill>
                  <a:srgbClr val="5A4535"/>
                </a:solidFill>
                <a:latin typeface="Arial"/>
              </a:rPr>
              <a:t>ROC-AUC Score by Model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5A352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A1F1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A352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03D2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A4F3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8604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0552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06840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Dummy</c:v>
                  </c:pt>
                  <c:pt idx="1">
                    <c:v>Logistic Reg.</c:v>
                  </c:pt>
                  <c:pt idx="2">
                    <c:v>Decision Tree</c:v>
                  </c:pt>
                  <c:pt idx="3">
                    <c:v>Random Forest</c:v>
                  </c:pt>
                  <c:pt idx="4">
                    <c:v>HistGradBoost</c:v>
                  </c:pt>
                  <c:pt idx="5">
                    <c:v>Stacked Ensemble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0.5</c:v>
                </c:pt>
                <c:pt idx="1">
                  <c:v>0.832</c:v>
                </c:pt>
                <c:pt idx="2">
                  <c:v>0.97</c:v>
                </c:pt>
                <c:pt idx="3">
                  <c:v>0.99</c:v>
                </c:pt>
                <c:pt idx="4">
                  <c:v>0.994</c:v>
                </c:pt>
                <c:pt idx="5">
                  <c:v>0.993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A1F1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453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4"/>
        </c:scaling>
        <c:delete val="0"/>
        <c:axPos val="b"/>
        <c:majorGridlines>
          <c:spPr>
            <a:ln w="6350" cap="flat">
              <a:solidFill>
                <a:srgbClr val="C8B89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453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E8DFD0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5A4535"/>
                </a:solidFill>
                <a:latin typeface="Arial"/>
              </a:defRPr>
            </a:pPr>
            <a:r>
              <a:rPr sz="1000" b="0" i="0" u="none" strike="noStrike">
                <a:solidFill>
                  <a:srgbClr val="5A4535"/>
                </a:solidFill>
                <a:latin typeface="Arial"/>
              </a:rPr>
              <a:t>Before vs After Calibration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</c:v>
                </c:pt>
              </c:strCache>
            </c:strRef>
          </c:tx>
          <c:spPr>
            <a:solidFill>
              <a:srgbClr val="7A685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2A1F1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ROC-AUC</c:v>
                  </c:pt>
                  <c:pt idx="1">
                    <c:v>Avg Precision</c:v>
                  </c:pt>
                  <c:pt idx="2">
                    <c:v>Brier Score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0.9947</c:v>
                </c:pt>
                <c:pt idx="1">
                  <c:v>0.9902</c:v>
                </c:pt>
                <c:pt idx="2">
                  <c:v>0.0142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</c:v>
                </c:pt>
              </c:strCache>
            </c:strRef>
          </c:tx>
          <c:spPr>
            <a:solidFill>
              <a:srgbClr val="8FAF6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2A1F1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ROC-AUC</c:v>
                  </c:pt>
                  <c:pt idx="1">
                    <c:v>Avg Precision</c:v>
                  </c:pt>
                  <c:pt idx="2">
                    <c:v>Brier Score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0.9944</c:v>
                </c:pt>
                <c:pt idx="1">
                  <c:v>0.99</c:v>
                </c:pt>
                <c:pt idx="2">
                  <c:v>0.0119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2A1F1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453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8B89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453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E8DFD0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 (ROC-AUC drop)</c:v>
                </c:pt>
              </c:strCache>
            </c:strRef>
          </c:tx>
          <c:spPr>
            <a:solidFill>
              <a:srgbClr val="C055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2A1F1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552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9604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2706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B807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3908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AA09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FB0A0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F4C0B0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F8D0C5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SatisfactionScore</c:v>
                  </c:pt>
                  <c:pt idx="1">
                    <c:v>YearsAtCompany</c:v>
                  </c:pt>
                  <c:pt idx="2">
                    <c:v>ActiveProjects</c:v>
                  </c:pt>
                  <c:pt idx="3">
                    <c:v>AvgMonthlyHours</c:v>
                  </c:pt>
                  <c:pt idx="4">
                    <c:v>LastEvaluation</c:v>
                  </c:pt>
                  <c:pt idx="5">
                    <c:v>Salary</c:v>
                  </c:pt>
                  <c:pt idx="6">
                    <c:v>Department</c:v>
                  </c:pt>
                  <c:pt idx="7">
                    <c:v>WorkAccidents</c:v>
                  </c:pt>
                  <c:pt idx="8">
                    <c:v>ReceivedPromotion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0.2</c:v>
                </c:pt>
                <c:pt idx="1">
                  <c:v>0.095</c:v>
                </c:pt>
                <c:pt idx="2">
                  <c:v>0.082</c:v>
                </c:pt>
                <c:pt idx="3">
                  <c:v>0.078</c:v>
                </c:pt>
                <c:pt idx="4">
                  <c:v>0.045</c:v>
                </c:pt>
                <c:pt idx="5">
                  <c:v>0.018</c:v>
                </c:pt>
                <c:pt idx="6">
                  <c:v>0.012</c:v>
                </c:pt>
                <c:pt idx="7">
                  <c:v>0.008</c:v>
                </c:pt>
                <c:pt idx="8">
                  <c:v>0.004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2A1F1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453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C8B89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453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E8DFD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C0552A">
              <a:alpha val="4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2743200" cy="2743200"/>
          </a:xfrm>
          <a:prstGeom prst="ellipse">
            <a:avLst/>
          </a:prstGeom>
          <a:solidFill>
            <a:srgbClr val="A8784A">
              <a:alpha val="4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457200"/>
            <a:ext cx="5486400" cy="4572000"/>
          </a:xfrm>
          <a:prstGeom prst="ellipse">
            <a:avLst/>
          </a:prstGeom>
          <a:solidFill>
            <a:srgbClr val="C0552A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0" y="-457200"/>
            <a:ext cx="4572000" cy="3657600"/>
          </a:xfrm>
          <a:prstGeom prst="ellipse">
            <a:avLst/>
          </a:prstGeom>
          <a:solidFill>
            <a:srgbClr val="A8784A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731520"/>
            <a:ext cx="8229600" cy="3840480"/>
          </a:xfrm>
          <a:prstGeom prst="roundRect">
            <a:avLst>
              <a:gd name="adj" fmla="val 2857"/>
            </a:avLst>
          </a:prstGeom>
          <a:solidFill>
            <a:srgbClr val="EDE5D8"/>
          </a:solidFill>
          <a:ln w="12700">
            <a:solidFill>
              <a:srgbClr val="C8B89A"/>
            </a:solidFill>
            <a:prstDash val="solid"/>
          </a:ln>
          <a:effectLst>
            <a:outerShdw sx="100000" sy="100000" kx="0" ky="0" algn="bl" rotWithShape="0" blurRad="152400" dist="38100" dir="8100000">
              <a:srgbClr val="8A706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5488" y="731520"/>
            <a:ext cx="8193024" cy="36576"/>
          </a:xfrm>
          <a:prstGeom prst="roundRect">
            <a:avLst>
              <a:gd name="adj" fmla="val 300000"/>
            </a:avLst>
          </a:prstGeom>
          <a:solidFill>
            <a:srgbClr val="C0552A">
              <a:alpha val="6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786384"/>
            <a:ext cx="54864" cy="3730752"/>
          </a:xfrm>
          <a:prstGeom prst="rect">
            <a:avLst/>
          </a:prstGeom>
          <a:solidFill>
            <a:srgbClr val="C0552A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9601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Hub</a:t>
            </a:r>
            <a:endParaRPr lang="en-US" sz="7200" dirty="0"/>
          </a:p>
        </p:txBody>
      </p:sp>
      <p:sp>
        <p:nvSpPr>
          <p:cNvPr id="10" name="Shape 8"/>
          <p:cNvSpPr/>
          <p:nvPr/>
        </p:nvSpPr>
        <p:spPr>
          <a:xfrm>
            <a:off x="777240" y="2011680"/>
            <a:ext cx="4572000" cy="27432"/>
          </a:xfrm>
          <a:prstGeom prst="rect">
            <a:avLst/>
          </a:prstGeom>
          <a:solidFill>
            <a:srgbClr val="C0552A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1488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4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AI-Augmented HR Workflow Automation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77240" y="2743200"/>
            <a:ext cx="1389888" cy="256032"/>
          </a:xfrm>
          <a:prstGeom prst="roundRect">
            <a:avLst>
              <a:gd name="adj" fmla="val 25000"/>
            </a:avLst>
          </a:prstGeom>
          <a:solidFill>
            <a:srgbClr val="C0552A">
              <a:alpha val="25000"/>
            </a:srgbClr>
          </a:solidFill>
          <a:ln w="6350">
            <a:solidFill>
              <a:srgbClr val="C055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74320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552A"/>
                </a:solidFill>
              </a:rPr>
              <a:t>FastAPI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86000" y="2743200"/>
            <a:ext cx="1389888" cy="256032"/>
          </a:xfrm>
          <a:prstGeom prst="roundRect">
            <a:avLst>
              <a:gd name="adj" fmla="val 25000"/>
            </a:avLst>
          </a:prstGeom>
          <a:solidFill>
            <a:srgbClr val="C0552A">
              <a:alpha val="25000"/>
            </a:srgbClr>
          </a:solidFill>
          <a:ln w="6350">
            <a:solidFill>
              <a:srgbClr val="C055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0" y="274320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552A"/>
                </a:solidFill>
              </a:rPr>
              <a:t>SvelteKit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794760" y="2743200"/>
            <a:ext cx="1389888" cy="256032"/>
          </a:xfrm>
          <a:prstGeom prst="roundRect">
            <a:avLst>
              <a:gd name="adj" fmla="val 25000"/>
            </a:avLst>
          </a:prstGeom>
          <a:solidFill>
            <a:srgbClr val="C0552A">
              <a:alpha val="25000"/>
            </a:srgbClr>
          </a:solidFill>
          <a:ln w="6350">
            <a:solidFill>
              <a:srgbClr val="C055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94760" y="274320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552A"/>
                </a:solidFill>
              </a:rPr>
              <a:t>PydanticAI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303520" y="2743200"/>
            <a:ext cx="1389888" cy="256032"/>
          </a:xfrm>
          <a:prstGeom prst="roundRect">
            <a:avLst>
              <a:gd name="adj" fmla="val 25000"/>
            </a:avLst>
          </a:prstGeom>
          <a:solidFill>
            <a:srgbClr val="C0552A">
              <a:alpha val="25000"/>
            </a:srgbClr>
          </a:solidFill>
          <a:ln w="6350">
            <a:solidFill>
              <a:srgbClr val="C055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0" y="274320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552A"/>
                </a:solidFill>
              </a:rPr>
              <a:t>Groq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12280" y="2743200"/>
            <a:ext cx="1389888" cy="256032"/>
          </a:xfrm>
          <a:prstGeom prst="roundRect">
            <a:avLst>
              <a:gd name="adj" fmla="val 25000"/>
            </a:avLst>
          </a:prstGeom>
          <a:solidFill>
            <a:srgbClr val="C0552A">
              <a:alpha val="25000"/>
            </a:srgbClr>
          </a:solidFill>
          <a:ln w="6350">
            <a:solidFill>
              <a:srgbClr val="C055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274320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552A"/>
                </a:solidFill>
              </a:rPr>
              <a:t>scikit-learn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77240" y="3246120"/>
            <a:ext cx="1691640" cy="237744"/>
          </a:xfrm>
          <a:prstGeom prst="roundRect">
            <a:avLst>
              <a:gd name="adj" fmla="val 26923"/>
            </a:avLst>
          </a:prstGeom>
          <a:solidFill>
            <a:srgbClr val="C0552A">
              <a:alpha val="15000"/>
            </a:srgbClr>
          </a:solidFill>
          <a:ln w="6350">
            <a:solidFill>
              <a:srgbClr val="C055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324612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552A"/>
                </a:solidFill>
              </a:rPr>
              <a:t>Employees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651760" y="3246120"/>
            <a:ext cx="1691640" cy="237744"/>
          </a:xfrm>
          <a:prstGeom prst="roundRect">
            <a:avLst>
              <a:gd name="adj" fmla="val 26923"/>
            </a:avLst>
          </a:prstGeom>
          <a:solidFill>
            <a:srgbClr val="A8784A">
              <a:alpha val="15000"/>
            </a:srgbClr>
          </a:solidFill>
          <a:ln w="6350">
            <a:solidFill>
              <a:srgbClr val="A878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51760" y="324612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784A"/>
                </a:solidFill>
              </a:rPr>
              <a:t>IT Tasks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26280" y="3246120"/>
            <a:ext cx="1691640" cy="237744"/>
          </a:xfrm>
          <a:prstGeom prst="roundRect">
            <a:avLst>
              <a:gd name="adj" fmla="val 26923"/>
            </a:avLst>
          </a:prstGeom>
          <a:solidFill>
            <a:srgbClr val="D4855A">
              <a:alpha val="15000"/>
            </a:srgbClr>
          </a:solidFill>
          <a:ln w="6350">
            <a:solidFill>
              <a:srgbClr val="D485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26280" y="324612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4855A"/>
                </a:solidFill>
              </a:rPr>
              <a:t>Ticketing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00800" y="3246120"/>
            <a:ext cx="1691640" cy="237744"/>
          </a:xfrm>
          <a:prstGeom prst="roundRect">
            <a:avLst>
              <a:gd name="adj" fmla="val 26923"/>
            </a:avLst>
          </a:prstGeom>
          <a:solidFill>
            <a:srgbClr val="8FAF6A">
              <a:alpha val="15000"/>
            </a:srgbClr>
          </a:solidFill>
          <a:ln w="6350">
            <a:solidFill>
              <a:srgbClr val="8FAF6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324612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F6A"/>
                </a:solidFill>
              </a:rPr>
              <a:t>HR Chat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C0552A">
              <a:alpha val="4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2743200" cy="2743200"/>
          </a:xfrm>
          <a:prstGeom prst="ellipse">
            <a:avLst/>
          </a:prstGeom>
          <a:solidFill>
            <a:srgbClr val="A8784A">
              <a:alpha val="4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64592"/>
            <a:ext cx="2011680" cy="201168"/>
          </a:xfrm>
          <a:prstGeom prst="roundRect">
            <a:avLst>
              <a:gd name="adj" fmla="val 27273"/>
            </a:avLst>
          </a:prstGeom>
          <a:solidFill>
            <a:srgbClr val="C0552A">
              <a:alpha val="20000"/>
            </a:srgbClr>
          </a:solidFill>
          <a:ln w="6350">
            <a:solidFill>
              <a:srgbClr val="C055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C0552A"/>
                </a:solidFill>
              </a:rPr>
              <a:t>01 / APPLICATION OVERVIEW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43891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4114800" cy="1463040"/>
          </a:xfrm>
          <a:prstGeom prst="roundRect">
            <a:avLst>
              <a:gd name="adj" fmla="val 7500"/>
            </a:avLst>
          </a:prstGeom>
          <a:solidFill>
            <a:srgbClr val="EDE5D8"/>
          </a:solidFill>
          <a:ln w="12700">
            <a:solidFill>
              <a:srgbClr val="C8B89A"/>
            </a:solidFill>
            <a:prstDash val="solid"/>
          </a:ln>
          <a:effectLst>
            <a:outerShdw sx="100000" sy="100000" kx="0" ky="0" algn="bl" rotWithShape="0" blurRad="152400" dist="38100" dir="8100000">
              <a:srgbClr val="8A706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" y="1234440"/>
            <a:ext cx="4078224" cy="36576"/>
          </a:xfrm>
          <a:prstGeom prst="roundRect">
            <a:avLst>
              <a:gd name="adj" fmla="val 300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289304"/>
            <a:ext cx="54864" cy="1353312"/>
          </a:xfrm>
          <a:prstGeom prst="rect">
            <a:avLst/>
          </a:prstGeom>
          <a:solidFill>
            <a:srgbClr val="C0552A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08760"/>
            <a:ext cx="347472" cy="3474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97280" y="14356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Management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97280" y="178308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4535"/>
                </a:solidFill>
              </a:rPr>
              <a:t>Onboard new hires, view and edit records, track attrition risk scores.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800600" y="1234440"/>
            <a:ext cx="4114800" cy="1463040"/>
          </a:xfrm>
          <a:prstGeom prst="roundRect">
            <a:avLst>
              <a:gd name="adj" fmla="val 7500"/>
            </a:avLst>
          </a:prstGeom>
          <a:solidFill>
            <a:srgbClr val="EDE5D8"/>
          </a:solidFill>
          <a:ln w="12700">
            <a:solidFill>
              <a:srgbClr val="C8B89A"/>
            </a:solidFill>
            <a:prstDash val="solid"/>
          </a:ln>
          <a:effectLst>
            <a:outerShdw sx="100000" sy="100000" kx="0" ky="0" algn="bl" rotWithShape="0" blurRad="152400" dist="38100" dir="8100000">
              <a:srgbClr val="8A706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818888" y="1234440"/>
            <a:ext cx="4078224" cy="36576"/>
          </a:xfrm>
          <a:prstGeom prst="roundRect">
            <a:avLst>
              <a:gd name="adj" fmla="val 300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800600" y="1289304"/>
            <a:ext cx="54864" cy="1353312"/>
          </a:xfrm>
          <a:prstGeom prst="rect">
            <a:avLst/>
          </a:prstGeom>
          <a:solidFill>
            <a:srgbClr val="A8784A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508760"/>
            <a:ext cx="347472" cy="34747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440680" y="14356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7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Task Management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5440680" y="178308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4535"/>
                </a:solidFill>
              </a:rPr>
              <a:t>Create and monitor IT setup tasks linked to employees.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457200" y="2834640"/>
            <a:ext cx="4114800" cy="1463040"/>
          </a:xfrm>
          <a:prstGeom prst="roundRect">
            <a:avLst>
              <a:gd name="adj" fmla="val 7500"/>
            </a:avLst>
          </a:prstGeom>
          <a:solidFill>
            <a:srgbClr val="EDE5D8"/>
          </a:solidFill>
          <a:ln w="12700">
            <a:solidFill>
              <a:srgbClr val="C8B89A"/>
            </a:solidFill>
            <a:prstDash val="solid"/>
          </a:ln>
          <a:effectLst>
            <a:outerShdw sx="100000" sy="100000" kx="0" ky="0" algn="bl" rotWithShape="0" blurRad="152400" dist="38100" dir="8100000">
              <a:srgbClr val="8A7060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75488" y="2834640"/>
            <a:ext cx="4078224" cy="36576"/>
          </a:xfrm>
          <a:prstGeom prst="roundRect">
            <a:avLst>
              <a:gd name="adj" fmla="val 300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57200" y="2889504"/>
            <a:ext cx="54864" cy="1353312"/>
          </a:xfrm>
          <a:prstGeom prst="rect">
            <a:avLst/>
          </a:prstGeom>
          <a:solidFill>
            <a:srgbClr val="D4855A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108960"/>
            <a:ext cx="347472" cy="34747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097280" y="30358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Ticketing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1097280" y="338328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4535"/>
                </a:solidFill>
              </a:rPr>
              <a:t>Submit support tickets classified by an LLM agent — topics, confidence, draft response.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4800600" y="2834640"/>
            <a:ext cx="4114800" cy="1463040"/>
          </a:xfrm>
          <a:prstGeom prst="roundRect">
            <a:avLst>
              <a:gd name="adj" fmla="val 7500"/>
            </a:avLst>
          </a:prstGeom>
          <a:solidFill>
            <a:srgbClr val="EDE5D8"/>
          </a:solidFill>
          <a:ln w="12700">
            <a:solidFill>
              <a:srgbClr val="C8B89A"/>
            </a:solidFill>
            <a:prstDash val="solid"/>
          </a:ln>
          <a:effectLst>
            <a:outerShdw sx="100000" sy="100000" kx="0" ky="0" algn="bl" rotWithShape="0" blurRad="152400" dist="38100" dir="8100000">
              <a:srgbClr val="8A7060">
                <a:alpha val="1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818888" y="2834640"/>
            <a:ext cx="4078224" cy="36576"/>
          </a:xfrm>
          <a:prstGeom prst="roundRect">
            <a:avLst>
              <a:gd name="adj" fmla="val 300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4800600" y="2889504"/>
            <a:ext cx="54864" cy="1353312"/>
          </a:xfrm>
          <a:prstGeom prst="rect">
            <a:avLst/>
          </a:prstGeom>
          <a:solidFill>
            <a:srgbClr val="8FAF6A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108960"/>
            <a:ext cx="347472" cy="34747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440680" y="30358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Chat Assistant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5440680" y="338328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4535"/>
                </a:solidFill>
              </a:rPr>
              <a:t>Conversational interface backed by a read-only SQL agent for ad-hoc HR queries.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C0552A">
              <a:alpha val="4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2743200" cy="2743200"/>
          </a:xfrm>
          <a:prstGeom prst="ellipse">
            <a:avLst/>
          </a:prstGeom>
          <a:solidFill>
            <a:srgbClr val="A8784A">
              <a:alpha val="4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64592"/>
            <a:ext cx="2011680" cy="201168"/>
          </a:xfrm>
          <a:prstGeom prst="roundRect">
            <a:avLst>
              <a:gd name="adj" fmla="val 27273"/>
            </a:avLst>
          </a:prstGeom>
          <a:solidFill>
            <a:srgbClr val="C0552A">
              <a:alpha val="20000"/>
            </a:srgbClr>
          </a:solidFill>
          <a:ln w="6350">
            <a:solidFill>
              <a:srgbClr val="C055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C0552A"/>
                </a:solidFill>
              </a:rPr>
              <a:t>01 / APPLICATION OVERVIEW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43891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5029200" cy="685800"/>
          </a:xfrm>
          <a:prstGeom prst="roundRect">
            <a:avLst>
              <a:gd name="adj" fmla="val 16000"/>
            </a:avLst>
          </a:prstGeom>
          <a:solidFill>
            <a:srgbClr val="EDE5D8"/>
          </a:solidFill>
          <a:ln w="12700">
            <a:solidFill>
              <a:srgbClr val="C8B89A"/>
            </a:solidFill>
            <a:prstDash val="solid"/>
          </a:ln>
          <a:effectLst>
            <a:outerShdw sx="100000" sy="100000" kx="0" ky="0" algn="bl" rotWithShape="0" blurRad="152400" dist="38100" dir="8100000">
              <a:srgbClr val="8A706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" y="1188720"/>
            <a:ext cx="4992624" cy="36576"/>
          </a:xfrm>
          <a:prstGeom prst="roundRect">
            <a:avLst>
              <a:gd name="adj" fmla="val 300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243584"/>
            <a:ext cx="54864" cy="576072"/>
          </a:xfrm>
          <a:prstGeom prst="rect">
            <a:avLst/>
          </a:prstGeom>
          <a:solidFill>
            <a:srgbClr val="C0552A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44168"/>
            <a:ext cx="347472" cy="3474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43000" y="1280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552A"/>
                </a:solidFill>
              </a:rPr>
              <a:t>Browser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43000" y="15544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4535"/>
                </a:solidFill>
              </a:rPr>
              <a:t>SvelteKit SPA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960120" y="1874520"/>
            <a:ext cx="27432" cy="164592"/>
          </a:xfrm>
          <a:prstGeom prst="rect">
            <a:avLst/>
          </a:prstGeom>
          <a:solidFill>
            <a:srgbClr val="C0552A">
              <a:alpha val="6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48640" y="2029968"/>
            <a:ext cx="5029200" cy="685800"/>
          </a:xfrm>
          <a:prstGeom prst="roundRect">
            <a:avLst>
              <a:gd name="adj" fmla="val 16000"/>
            </a:avLst>
          </a:prstGeom>
          <a:solidFill>
            <a:srgbClr val="EDE5D8"/>
          </a:solidFill>
          <a:ln w="12700">
            <a:solidFill>
              <a:srgbClr val="C8B89A"/>
            </a:solidFill>
            <a:prstDash val="solid"/>
          </a:ln>
          <a:effectLst>
            <a:outerShdw sx="100000" sy="100000" kx="0" ky="0" algn="bl" rotWithShape="0" blurRad="152400" dist="38100" dir="8100000">
              <a:srgbClr val="8A706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66928" y="2029968"/>
            <a:ext cx="4992624" cy="36576"/>
          </a:xfrm>
          <a:prstGeom prst="roundRect">
            <a:avLst>
              <a:gd name="adj" fmla="val 300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48640" y="2084832"/>
            <a:ext cx="54864" cy="576072"/>
          </a:xfrm>
          <a:prstGeom prst="rect">
            <a:avLst/>
          </a:prstGeom>
          <a:solidFill>
            <a:srgbClr val="A8784A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85416"/>
            <a:ext cx="347472" cy="34747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143000" y="21214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784A"/>
                </a:solidFill>
              </a:rPr>
              <a:t>API Gateway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143000" y="239572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4535"/>
                </a:solidFill>
              </a:rPr>
              <a:t>FastAPI :8000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960120" y="2715768"/>
            <a:ext cx="27432" cy="164592"/>
          </a:xfrm>
          <a:prstGeom prst="rect">
            <a:avLst/>
          </a:prstGeom>
          <a:solidFill>
            <a:srgbClr val="A8784A">
              <a:alpha val="6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48640" y="2871216"/>
            <a:ext cx="5029200" cy="685800"/>
          </a:xfrm>
          <a:prstGeom prst="roundRect">
            <a:avLst>
              <a:gd name="adj" fmla="val 16000"/>
            </a:avLst>
          </a:prstGeom>
          <a:solidFill>
            <a:srgbClr val="EDE5D8"/>
          </a:solidFill>
          <a:ln w="12700">
            <a:solidFill>
              <a:srgbClr val="C8B89A"/>
            </a:solidFill>
            <a:prstDash val="solid"/>
          </a:ln>
          <a:effectLst>
            <a:outerShdw sx="100000" sy="100000" kx="0" ky="0" algn="bl" rotWithShape="0" blurRad="152400" dist="38100" dir="8100000">
              <a:srgbClr val="8A7060">
                <a:alpha val="1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566928" y="2871216"/>
            <a:ext cx="4992624" cy="36576"/>
          </a:xfrm>
          <a:prstGeom prst="roundRect">
            <a:avLst>
              <a:gd name="adj" fmla="val 300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48640" y="2926080"/>
            <a:ext cx="54864" cy="576072"/>
          </a:xfrm>
          <a:prstGeom prst="rect">
            <a:avLst/>
          </a:prstGeom>
          <a:solidFill>
            <a:srgbClr val="D4855A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26664"/>
            <a:ext cx="347472" cy="34747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143000" y="296265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855A"/>
                </a:solidFill>
              </a:rPr>
              <a:t>Business Logic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1143000" y="3236976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4535"/>
                </a:solidFill>
              </a:rPr>
              <a:t>Service Layer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960120" y="3557016"/>
            <a:ext cx="27432" cy="164592"/>
          </a:xfrm>
          <a:prstGeom prst="rect">
            <a:avLst/>
          </a:prstGeom>
          <a:solidFill>
            <a:srgbClr val="D4855A">
              <a:alpha val="6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548640" y="3712464"/>
            <a:ext cx="5029200" cy="685800"/>
          </a:xfrm>
          <a:prstGeom prst="roundRect">
            <a:avLst>
              <a:gd name="adj" fmla="val 16000"/>
            </a:avLst>
          </a:prstGeom>
          <a:solidFill>
            <a:srgbClr val="EDE5D8"/>
          </a:solidFill>
          <a:ln w="12700">
            <a:solidFill>
              <a:srgbClr val="C8B89A"/>
            </a:solidFill>
            <a:prstDash val="solid"/>
          </a:ln>
          <a:effectLst>
            <a:outerShdw sx="100000" sy="100000" kx="0" ky="0" algn="bl" rotWithShape="0" blurRad="152400" dist="38100" dir="8100000">
              <a:srgbClr val="8A7060">
                <a:alpha val="1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566928" y="3712464"/>
            <a:ext cx="4992624" cy="36576"/>
          </a:xfrm>
          <a:prstGeom prst="roundRect">
            <a:avLst>
              <a:gd name="adj" fmla="val 300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548640" y="3767328"/>
            <a:ext cx="54864" cy="576072"/>
          </a:xfrm>
          <a:prstGeom prst="rect">
            <a:avLst/>
          </a:prstGeom>
          <a:solidFill>
            <a:srgbClr val="8FAF6A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867912"/>
            <a:ext cx="347472" cy="347472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143000" y="380390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AF6A"/>
                </a:solidFill>
              </a:rPr>
              <a:t>Data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1143000" y="407822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4535"/>
                </a:solidFill>
              </a:rPr>
              <a:t>SQLAlchemy ORM → SQLite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5852160" y="1188720"/>
            <a:ext cx="2834640" cy="3090672"/>
          </a:xfrm>
          <a:prstGeom prst="roundRect">
            <a:avLst>
              <a:gd name="adj" fmla="val 3871"/>
            </a:avLst>
          </a:prstGeom>
          <a:solidFill>
            <a:srgbClr val="EDE5D8"/>
          </a:solidFill>
          <a:ln w="12700">
            <a:solidFill>
              <a:srgbClr val="C8B89A"/>
            </a:solidFill>
            <a:prstDash val="solid"/>
          </a:ln>
          <a:effectLst>
            <a:outerShdw sx="100000" sy="100000" kx="0" ky="0" algn="bl" rotWithShape="0" blurRad="152400" dist="38100" dir="8100000">
              <a:srgbClr val="8A7060">
                <a:alpha val="18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5870448" y="1188720"/>
            <a:ext cx="2798064" cy="36576"/>
          </a:xfrm>
          <a:prstGeom prst="roundRect">
            <a:avLst>
              <a:gd name="adj" fmla="val 300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5907024" y="1188720"/>
            <a:ext cx="2724912" cy="54864"/>
          </a:xfrm>
          <a:prstGeom prst="rect">
            <a:avLst/>
          </a:prstGeom>
          <a:solidFill>
            <a:srgbClr val="A8784A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5989320" y="1371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7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mock-cloud/</a:t>
            </a:r>
            <a:endParaRPr lang="en-US" sz="1100" dirty="0"/>
          </a:p>
        </p:txBody>
      </p:sp>
      <p:sp>
        <p:nvSpPr>
          <p:cNvPr id="38" name="Shape 32"/>
          <p:cNvSpPr/>
          <p:nvPr/>
        </p:nvSpPr>
        <p:spPr>
          <a:xfrm>
            <a:off x="5989320" y="1828800"/>
            <a:ext cx="2560320" cy="384048"/>
          </a:xfrm>
          <a:prstGeom prst="roundRect">
            <a:avLst>
              <a:gd name="adj" fmla="val 19048"/>
            </a:avLst>
          </a:prstGeom>
          <a:solidFill>
            <a:srgbClr val="8FAF6A">
              <a:alpha val="12000"/>
            </a:srgbClr>
          </a:solidFill>
          <a:ln w="6350">
            <a:solidFill>
              <a:srgbClr val="8FAF6A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6080760" y="185623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FAF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db/</a:t>
            </a:r>
            <a:endParaRPr lang="en-US" sz="1000" dirty="0"/>
          </a:p>
        </p:txBody>
      </p:sp>
      <p:sp>
        <p:nvSpPr>
          <p:cNvPr id="40" name="Text 34"/>
          <p:cNvSpPr/>
          <p:nvPr/>
        </p:nvSpPr>
        <p:spPr>
          <a:xfrm>
            <a:off x="7178040" y="185623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4535"/>
                </a:solidFill>
              </a:rPr>
              <a:t>SQLite file</a:t>
            </a:r>
            <a:endParaRPr lang="en-US" sz="900" dirty="0"/>
          </a:p>
        </p:txBody>
      </p:sp>
      <p:sp>
        <p:nvSpPr>
          <p:cNvPr id="41" name="Shape 35"/>
          <p:cNvSpPr/>
          <p:nvPr/>
        </p:nvSpPr>
        <p:spPr>
          <a:xfrm>
            <a:off x="5989320" y="2331720"/>
            <a:ext cx="2560320" cy="384048"/>
          </a:xfrm>
          <a:prstGeom prst="roundRect">
            <a:avLst>
              <a:gd name="adj" fmla="val 19048"/>
            </a:avLst>
          </a:prstGeom>
          <a:solidFill>
            <a:srgbClr val="C0552A">
              <a:alpha val="12000"/>
            </a:srgbClr>
          </a:solidFill>
          <a:ln w="6350">
            <a:solidFill>
              <a:srgbClr val="C0552A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6080760" y="2359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5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storage/</a:t>
            </a:r>
            <a:endParaRPr lang="en-US" sz="1000" dirty="0"/>
          </a:p>
        </p:txBody>
      </p:sp>
      <p:sp>
        <p:nvSpPr>
          <p:cNvPr id="43" name="Text 37"/>
          <p:cNvSpPr/>
          <p:nvPr/>
        </p:nvSpPr>
        <p:spPr>
          <a:xfrm>
            <a:off x="7178040" y="23591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4535"/>
                </a:solidFill>
              </a:rPr>
              <a:t>ML model · raw data</a:t>
            </a:r>
            <a:endParaRPr lang="en-US" sz="900" dirty="0"/>
          </a:p>
        </p:txBody>
      </p:sp>
      <p:sp>
        <p:nvSpPr>
          <p:cNvPr id="44" name="Text 38"/>
          <p:cNvSpPr/>
          <p:nvPr/>
        </p:nvSpPr>
        <p:spPr>
          <a:xfrm>
            <a:off x="5989320" y="29260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7060"/>
                </a:solidFill>
              </a:rPr>
              <a:t>← shared volume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C0552A">
              <a:alpha val="4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2743200" cy="2743200"/>
          </a:xfrm>
          <a:prstGeom prst="ellipse">
            <a:avLst/>
          </a:prstGeom>
          <a:solidFill>
            <a:srgbClr val="A8784A">
              <a:alpha val="4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64592"/>
            <a:ext cx="2011680" cy="201168"/>
          </a:xfrm>
          <a:prstGeom prst="roundRect">
            <a:avLst>
              <a:gd name="adj" fmla="val 27273"/>
            </a:avLst>
          </a:prstGeom>
          <a:solidFill>
            <a:srgbClr val="C0552A">
              <a:alpha val="20000"/>
            </a:srgbClr>
          </a:solidFill>
          <a:ln w="6350">
            <a:solidFill>
              <a:srgbClr val="C055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C0552A"/>
                </a:solidFill>
              </a:rPr>
              <a:t>01 / APPLICATION OVERVIEW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43891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8A7060">
              <a:alpha val="15000"/>
            </a:srgbClr>
          </a:solidFill>
          <a:ln w="6350">
            <a:solidFill>
              <a:srgbClr val="8A70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430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7060"/>
                </a:solidFill>
              </a:rPr>
              <a:t>Layer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23160" y="1143000"/>
            <a:ext cx="3108960" cy="292608"/>
          </a:xfrm>
          <a:prstGeom prst="roundRect">
            <a:avLst>
              <a:gd name="adj" fmla="val 18750"/>
            </a:avLst>
          </a:prstGeom>
          <a:solidFill>
            <a:srgbClr val="C0552A">
              <a:alpha val="15000"/>
            </a:srgbClr>
          </a:solidFill>
          <a:ln w="6350">
            <a:solidFill>
              <a:srgbClr val="C055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11430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552A"/>
                </a:solidFill>
              </a:rPr>
              <a:t>Frontend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760720" y="1143000"/>
            <a:ext cx="2834640" cy="292608"/>
          </a:xfrm>
          <a:prstGeom prst="roundRect">
            <a:avLst>
              <a:gd name="adj" fmla="val 18750"/>
            </a:avLst>
          </a:prstGeom>
          <a:solidFill>
            <a:srgbClr val="A8784A">
              <a:alpha val="15000"/>
            </a:srgbClr>
          </a:solidFill>
          <a:ln w="6350">
            <a:solidFill>
              <a:srgbClr val="A878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11430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784A"/>
                </a:solidFill>
              </a:rPr>
              <a:t>Backend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508760"/>
            <a:ext cx="8229600" cy="347472"/>
          </a:xfrm>
          <a:prstGeom prst="rect">
            <a:avLst/>
          </a:prstGeom>
          <a:solidFill>
            <a:srgbClr val="E8DFD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54533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6050"/>
                </a:solidFill>
              </a:rPr>
              <a:t>Framework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423160" y="154533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2D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SvelteKit 2 + Svelte 4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760720" y="1545336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7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1883664"/>
            <a:ext cx="8229600" cy="347472"/>
          </a:xfrm>
          <a:prstGeom prst="rect">
            <a:avLst/>
          </a:prstGeom>
          <a:solidFill>
            <a:srgbClr val="EDE5D8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1920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6050"/>
                </a:solidFill>
              </a:rPr>
              <a:t>Language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423160" y="19202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2D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TypeScript (strict)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760720" y="19202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7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3.14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2258568"/>
            <a:ext cx="8229600" cy="347472"/>
          </a:xfrm>
          <a:prstGeom prst="rect">
            <a:avLst/>
          </a:prstGeom>
          <a:solidFill>
            <a:srgbClr val="E8DFD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29514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6050"/>
                </a:solidFill>
              </a:rPr>
              <a:t>Styling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423160" y="229514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2D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Tailwind CSS 3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760720" y="2295144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060"/>
                </a:solidFill>
              </a:rPr>
              <a:t>—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2633472"/>
            <a:ext cx="8229600" cy="347472"/>
          </a:xfrm>
          <a:prstGeom prst="rect">
            <a:avLst/>
          </a:prstGeom>
          <a:solidFill>
            <a:srgbClr val="EDE5D8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26700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6050"/>
                </a:solidFill>
              </a:rPr>
              <a:t>AI / ML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423160" y="267004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060"/>
                </a:solidFill>
              </a:rPr>
              <a:t>—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760720" y="267004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7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PydanticAI + Groq · scikit-learn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3008376"/>
            <a:ext cx="8229600" cy="347472"/>
          </a:xfrm>
          <a:prstGeom prst="rect">
            <a:avLst/>
          </a:prstGeom>
          <a:solidFill>
            <a:srgbClr val="E8DFD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044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6050"/>
                </a:solidFill>
              </a:rPr>
              <a:t>ORM / DB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423160" y="304495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060"/>
                </a:solidFill>
              </a:rPr>
              <a:t>—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760720" y="304495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7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SQLAlchemy 2 + SQLite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" y="3383280"/>
            <a:ext cx="8229600" cy="347472"/>
          </a:xfrm>
          <a:prstGeom prst="rect">
            <a:avLst/>
          </a:prstGeom>
          <a:solidFill>
            <a:srgbClr val="EDE5D8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341985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6050"/>
                </a:solidFill>
              </a:rPr>
              <a:t>Migrations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423160" y="341985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060"/>
                </a:solidFill>
              </a:rPr>
              <a:t>—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760720" y="3419856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7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Alembic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" y="3758184"/>
            <a:ext cx="8229600" cy="347472"/>
          </a:xfrm>
          <a:prstGeom prst="rect">
            <a:avLst/>
          </a:prstGeom>
          <a:solidFill>
            <a:srgbClr val="E8DFD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3794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6050"/>
                </a:solidFill>
              </a:rPr>
              <a:t>State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423160" y="37947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2D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Svelte writable stores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760720" y="37947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060"/>
                </a:solidFill>
              </a:rPr>
              <a:t>—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57200" y="4133088"/>
            <a:ext cx="8229600" cy="347472"/>
          </a:xfrm>
          <a:prstGeom prst="rect">
            <a:avLst/>
          </a:prstGeom>
          <a:solidFill>
            <a:srgbClr val="EDE5D8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41696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6050"/>
                </a:solidFill>
              </a:rPr>
              <a:t>Pkg manager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2423160" y="416966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2D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yarn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760720" y="4169664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7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57200" y="4507992"/>
            <a:ext cx="8229600" cy="347472"/>
          </a:xfrm>
          <a:prstGeom prst="rect">
            <a:avLst/>
          </a:prstGeom>
          <a:solidFill>
            <a:srgbClr val="E8DFD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" y="45445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6050"/>
                </a:solidFill>
              </a:rPr>
              <a:t>Deployment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2423160" y="454456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2D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adapter (:3000)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760720" y="454456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7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Uvicorn (:8000)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C0552A">
              <a:alpha val="4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2743200" cy="2743200"/>
          </a:xfrm>
          <a:prstGeom prst="ellipse">
            <a:avLst/>
          </a:prstGeom>
          <a:solidFill>
            <a:srgbClr val="A8784A">
              <a:alpha val="4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64592"/>
            <a:ext cx="2011680" cy="201168"/>
          </a:xfrm>
          <a:prstGeom prst="roundRect">
            <a:avLst>
              <a:gd name="adj" fmla="val 27273"/>
            </a:avLst>
          </a:prstGeom>
          <a:solidFill>
            <a:srgbClr val="C0552A">
              <a:alpha val="20000"/>
            </a:srgbClr>
          </a:solidFill>
          <a:ln w="6350">
            <a:solidFill>
              <a:srgbClr val="C055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C0552A"/>
                </a:solidFill>
              </a:rPr>
              <a:t>01 / APPLICATION OVERVIEW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43891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Flow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1058091" cy="1920240"/>
          </a:xfrm>
          <a:prstGeom prst="roundRect">
            <a:avLst>
              <a:gd name="adj" fmla="val 10370"/>
            </a:avLst>
          </a:prstGeom>
          <a:solidFill>
            <a:srgbClr val="EDE5D8"/>
          </a:solidFill>
          <a:ln w="12700">
            <a:solidFill>
              <a:srgbClr val="C8B89A"/>
            </a:solidFill>
            <a:prstDash val="solid"/>
          </a:ln>
          <a:effectLst>
            <a:outerShdw sx="100000" sy="100000" kx="0" ky="0" algn="bl" rotWithShape="0" blurRad="152400" dist="38100" dir="8100000">
              <a:srgbClr val="8A706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" y="1188720"/>
            <a:ext cx="1021515" cy="36576"/>
          </a:xfrm>
          <a:prstGeom prst="roundRect">
            <a:avLst>
              <a:gd name="adj" fmla="val 300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" y="1188720"/>
            <a:ext cx="948363" cy="54864"/>
          </a:xfrm>
          <a:prstGeom prst="rect">
            <a:avLst/>
          </a:prstGeom>
          <a:solidFill>
            <a:srgbClr val="C0552A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3366" y="1325880"/>
            <a:ext cx="365760" cy="365760"/>
          </a:xfrm>
          <a:prstGeom prst="ellipse">
            <a:avLst/>
          </a:prstGeom>
          <a:solidFill>
            <a:srgbClr val="C0552A">
              <a:alpha val="30000"/>
            </a:srgbClr>
          </a:solidFill>
          <a:ln w="12700">
            <a:solidFill>
              <a:srgbClr val="C055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3366" y="1344168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1F14"/>
                </a:solidFill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" y="1783080"/>
            <a:ext cx="984939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05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Action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93776" y="2267712"/>
            <a:ext cx="984939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4535"/>
                </a:solidFill>
              </a:rPr>
              <a:t>Click in SvelteKit dashboard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1524435" y="2057400"/>
            <a:ext cx="118872" cy="18288"/>
          </a:xfrm>
          <a:prstGeom prst="rect">
            <a:avLst/>
          </a:prstGeom>
          <a:solidFill>
            <a:srgbClr val="C0552A">
              <a:alpha val="6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52451" y="1188720"/>
            <a:ext cx="1058091" cy="1920240"/>
          </a:xfrm>
          <a:prstGeom prst="roundRect">
            <a:avLst>
              <a:gd name="adj" fmla="val 10370"/>
            </a:avLst>
          </a:prstGeom>
          <a:solidFill>
            <a:srgbClr val="EDE5D8"/>
          </a:solidFill>
          <a:ln w="12700">
            <a:solidFill>
              <a:srgbClr val="C8B89A"/>
            </a:solidFill>
            <a:prstDash val="solid"/>
          </a:ln>
          <a:effectLst>
            <a:outerShdw sx="100000" sy="100000" kx="0" ky="0" algn="bl" rotWithShape="0" blurRad="152400" dist="38100" dir="8100000">
              <a:srgbClr val="8A706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670739" y="1188720"/>
            <a:ext cx="1021515" cy="36576"/>
          </a:xfrm>
          <a:prstGeom prst="roundRect">
            <a:avLst>
              <a:gd name="adj" fmla="val 300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07315" y="1188720"/>
            <a:ext cx="948363" cy="54864"/>
          </a:xfrm>
          <a:prstGeom prst="rect">
            <a:avLst/>
          </a:prstGeom>
          <a:solidFill>
            <a:srgbClr val="C0552A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98617" y="1325880"/>
            <a:ext cx="365760" cy="365760"/>
          </a:xfrm>
          <a:prstGeom prst="ellipse">
            <a:avLst/>
          </a:prstGeom>
          <a:solidFill>
            <a:srgbClr val="C0552A">
              <a:alpha val="30000"/>
            </a:srgbClr>
          </a:solidFill>
          <a:ln w="12700">
            <a:solidFill>
              <a:srgbClr val="C055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98617" y="1344168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1F14"/>
                </a:solidFill>
              </a:rPr>
              <a:t>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89027" y="1783080"/>
            <a:ext cx="984939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05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689027" y="2267712"/>
            <a:ext cx="984939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4535"/>
                </a:solidFill>
              </a:rPr>
              <a:t>Svelte store dispatches action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2719687" y="2057400"/>
            <a:ext cx="118872" cy="18288"/>
          </a:xfrm>
          <a:prstGeom prst="rect">
            <a:avLst/>
          </a:prstGeom>
          <a:solidFill>
            <a:srgbClr val="C0552A">
              <a:alpha val="6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47703" y="1188720"/>
            <a:ext cx="1058091" cy="1920240"/>
          </a:xfrm>
          <a:prstGeom prst="roundRect">
            <a:avLst>
              <a:gd name="adj" fmla="val 10370"/>
            </a:avLst>
          </a:prstGeom>
          <a:solidFill>
            <a:srgbClr val="EDE5D8"/>
          </a:solidFill>
          <a:ln w="12700">
            <a:solidFill>
              <a:srgbClr val="C8B89A"/>
            </a:solidFill>
            <a:prstDash val="solid"/>
          </a:ln>
          <a:effectLst>
            <a:outerShdw sx="100000" sy="100000" kx="0" ky="0" algn="bl" rotWithShape="0" blurRad="152400" dist="38100" dir="8100000">
              <a:srgbClr val="8A706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865991" y="1188720"/>
            <a:ext cx="1021515" cy="36576"/>
          </a:xfrm>
          <a:prstGeom prst="roundRect">
            <a:avLst>
              <a:gd name="adj" fmla="val 300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02567" y="1188720"/>
            <a:ext cx="948363" cy="54864"/>
          </a:xfrm>
          <a:prstGeom prst="rect">
            <a:avLst/>
          </a:prstGeom>
          <a:solidFill>
            <a:srgbClr val="A8784A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93869" y="1325880"/>
            <a:ext cx="365760" cy="365760"/>
          </a:xfrm>
          <a:prstGeom prst="ellipse">
            <a:avLst/>
          </a:prstGeom>
          <a:solidFill>
            <a:srgbClr val="A8784A">
              <a:alpha val="30000"/>
            </a:srgbClr>
          </a:solidFill>
          <a:ln w="12700">
            <a:solidFill>
              <a:srgbClr val="A878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93869" y="1344168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1F14"/>
                </a:solidFill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884279" y="1783080"/>
            <a:ext cx="984939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87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Client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884279" y="2267712"/>
            <a:ext cx="984939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4535"/>
                </a:solidFill>
              </a:rPr>
              <a:t>lib/api/ calls apiFetch()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3914938" y="2057400"/>
            <a:ext cx="118872" cy="18288"/>
          </a:xfrm>
          <a:prstGeom prst="rect">
            <a:avLst/>
          </a:prstGeom>
          <a:solidFill>
            <a:srgbClr val="A8784A">
              <a:alpha val="6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42954" y="1188720"/>
            <a:ext cx="1058091" cy="1920240"/>
          </a:xfrm>
          <a:prstGeom prst="roundRect">
            <a:avLst>
              <a:gd name="adj" fmla="val 10370"/>
            </a:avLst>
          </a:prstGeom>
          <a:solidFill>
            <a:srgbClr val="EDE5D8"/>
          </a:solidFill>
          <a:ln w="12700">
            <a:solidFill>
              <a:srgbClr val="C8B89A"/>
            </a:solidFill>
            <a:prstDash val="solid"/>
          </a:ln>
          <a:effectLst>
            <a:outerShdw sx="100000" sy="100000" kx="0" ky="0" algn="bl" rotWithShape="0" blurRad="152400" dist="38100" dir="8100000">
              <a:srgbClr val="8A706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061242" y="1188720"/>
            <a:ext cx="1021515" cy="36576"/>
          </a:xfrm>
          <a:prstGeom prst="roundRect">
            <a:avLst>
              <a:gd name="adj" fmla="val 300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097818" y="1188720"/>
            <a:ext cx="948363" cy="54864"/>
          </a:xfrm>
          <a:prstGeom prst="rect">
            <a:avLst/>
          </a:prstGeom>
          <a:solidFill>
            <a:srgbClr val="A8784A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89120" y="1325880"/>
            <a:ext cx="365760" cy="365760"/>
          </a:xfrm>
          <a:prstGeom prst="ellipse">
            <a:avLst/>
          </a:prstGeom>
          <a:solidFill>
            <a:srgbClr val="A8784A">
              <a:alpha val="30000"/>
            </a:srgbClr>
          </a:solidFill>
          <a:ln w="12700">
            <a:solidFill>
              <a:srgbClr val="A878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89120" y="1344168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1F14"/>
                </a:solidFill>
              </a:rPr>
              <a:t>4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079530" y="1783080"/>
            <a:ext cx="984939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87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Router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079530" y="2267712"/>
            <a:ext cx="984939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4535"/>
                </a:solidFill>
              </a:rPr>
              <a:t>api/ logs request, delegates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5110190" y="2057400"/>
            <a:ext cx="118872" cy="18288"/>
          </a:xfrm>
          <a:prstGeom prst="rect">
            <a:avLst/>
          </a:prstGeom>
          <a:solidFill>
            <a:srgbClr val="A8784A">
              <a:alpha val="6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238206" y="1188720"/>
            <a:ext cx="1058091" cy="1920240"/>
          </a:xfrm>
          <a:prstGeom prst="roundRect">
            <a:avLst>
              <a:gd name="adj" fmla="val 10370"/>
            </a:avLst>
          </a:prstGeom>
          <a:solidFill>
            <a:srgbClr val="EDE5D8"/>
          </a:solidFill>
          <a:ln w="12700">
            <a:solidFill>
              <a:srgbClr val="C8B89A"/>
            </a:solidFill>
            <a:prstDash val="solid"/>
          </a:ln>
          <a:effectLst>
            <a:outerShdw sx="100000" sy="100000" kx="0" ky="0" algn="bl" rotWithShape="0" blurRad="152400" dist="38100" dir="8100000">
              <a:srgbClr val="8A706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256494" y="1188720"/>
            <a:ext cx="1021515" cy="36576"/>
          </a:xfrm>
          <a:prstGeom prst="roundRect">
            <a:avLst>
              <a:gd name="adj" fmla="val 300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293070" y="1188720"/>
            <a:ext cx="948363" cy="54864"/>
          </a:xfrm>
          <a:prstGeom prst="rect">
            <a:avLst/>
          </a:prstGeom>
          <a:solidFill>
            <a:srgbClr val="D4855A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584371" y="1325880"/>
            <a:ext cx="365760" cy="365760"/>
          </a:xfrm>
          <a:prstGeom prst="ellipse">
            <a:avLst/>
          </a:prstGeom>
          <a:solidFill>
            <a:srgbClr val="D4855A">
              <a:alpha val="30000"/>
            </a:srgbClr>
          </a:solidFill>
          <a:ln w="12700">
            <a:solidFill>
              <a:srgbClr val="D4855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84371" y="1344168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1F14"/>
                </a:solidFill>
              </a:rPr>
              <a:t>5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274782" y="1783080"/>
            <a:ext cx="984939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4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5274782" y="2267712"/>
            <a:ext cx="984939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4535"/>
                </a:solidFill>
              </a:rPr>
              <a:t>service/ orchestrates ORM + agent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6305441" y="2057400"/>
            <a:ext cx="118872" cy="18288"/>
          </a:xfrm>
          <a:prstGeom prst="rect">
            <a:avLst/>
          </a:prstGeom>
          <a:solidFill>
            <a:srgbClr val="D4855A">
              <a:alpha val="6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33457" y="1188720"/>
            <a:ext cx="1058091" cy="1920240"/>
          </a:xfrm>
          <a:prstGeom prst="roundRect">
            <a:avLst>
              <a:gd name="adj" fmla="val 10370"/>
            </a:avLst>
          </a:prstGeom>
          <a:solidFill>
            <a:srgbClr val="EDE5D8"/>
          </a:solidFill>
          <a:ln w="12700">
            <a:solidFill>
              <a:srgbClr val="C8B89A"/>
            </a:solidFill>
            <a:prstDash val="solid"/>
          </a:ln>
          <a:effectLst>
            <a:outerShdw sx="100000" sy="100000" kx="0" ky="0" algn="bl" rotWithShape="0" blurRad="152400" dist="38100" dir="8100000">
              <a:srgbClr val="8A7060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451745" y="1188720"/>
            <a:ext cx="1021515" cy="36576"/>
          </a:xfrm>
          <a:prstGeom prst="roundRect">
            <a:avLst>
              <a:gd name="adj" fmla="val 300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488321" y="1188720"/>
            <a:ext cx="948363" cy="54864"/>
          </a:xfrm>
          <a:prstGeom prst="rect">
            <a:avLst/>
          </a:prstGeom>
          <a:solidFill>
            <a:srgbClr val="8FAF6A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779623" y="1325880"/>
            <a:ext cx="365760" cy="365760"/>
          </a:xfrm>
          <a:prstGeom prst="ellipse">
            <a:avLst/>
          </a:prstGeom>
          <a:solidFill>
            <a:srgbClr val="8FAF6A">
              <a:alpha val="30000"/>
            </a:srgbClr>
          </a:solidFill>
          <a:ln w="12700">
            <a:solidFill>
              <a:srgbClr val="8FAF6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79623" y="1344168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1F14"/>
                </a:solidFill>
              </a:rPr>
              <a:t>6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470033" y="1783080"/>
            <a:ext cx="984939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F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ORM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6470033" y="2267712"/>
            <a:ext cx="984939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4535"/>
                </a:solidFill>
              </a:rPr>
              <a:t>Reads / writes SQLite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7500693" y="2057400"/>
            <a:ext cx="118872" cy="18288"/>
          </a:xfrm>
          <a:prstGeom prst="rect">
            <a:avLst/>
          </a:prstGeom>
          <a:solidFill>
            <a:srgbClr val="8FAF6A">
              <a:alpha val="6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628709" y="1188720"/>
            <a:ext cx="1058091" cy="1920240"/>
          </a:xfrm>
          <a:prstGeom prst="roundRect">
            <a:avLst>
              <a:gd name="adj" fmla="val 10370"/>
            </a:avLst>
          </a:prstGeom>
          <a:solidFill>
            <a:srgbClr val="EDE5D8"/>
          </a:solidFill>
          <a:ln w="12700">
            <a:solidFill>
              <a:srgbClr val="C8B89A"/>
            </a:solidFill>
            <a:prstDash val="solid"/>
          </a:ln>
          <a:effectLst>
            <a:outerShdw sx="100000" sy="100000" kx="0" ky="0" algn="bl" rotWithShape="0" blurRad="152400" dist="38100" dir="8100000">
              <a:srgbClr val="8A7060">
                <a:alpha val="1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7646997" y="1188720"/>
            <a:ext cx="1021515" cy="36576"/>
          </a:xfrm>
          <a:prstGeom prst="roundRect">
            <a:avLst>
              <a:gd name="adj" fmla="val 300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683573" y="1188720"/>
            <a:ext cx="948363" cy="54864"/>
          </a:xfrm>
          <a:prstGeom prst="rect">
            <a:avLst/>
          </a:prstGeom>
          <a:solidFill>
            <a:srgbClr val="8FAF6A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974874" y="1325880"/>
            <a:ext cx="365760" cy="365760"/>
          </a:xfrm>
          <a:prstGeom prst="ellipse">
            <a:avLst/>
          </a:prstGeom>
          <a:solidFill>
            <a:srgbClr val="8FAF6A">
              <a:alpha val="30000"/>
            </a:srgbClr>
          </a:solidFill>
          <a:ln w="12700">
            <a:solidFill>
              <a:srgbClr val="8FAF6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974874" y="1344168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1F14"/>
                </a:solidFill>
              </a:rPr>
              <a:t>7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7665285" y="1783080"/>
            <a:ext cx="984939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F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APIResponse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7665285" y="2267712"/>
            <a:ext cx="984939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4535"/>
                </a:solidFill>
              </a:rPr>
              <a:t>Unified response up the chain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457200" y="3291840"/>
            <a:ext cx="8229600" cy="457200"/>
          </a:xfrm>
          <a:prstGeom prst="roundRect">
            <a:avLst>
              <a:gd name="adj" fmla="val 24000"/>
            </a:avLst>
          </a:prstGeom>
          <a:solidFill>
            <a:srgbClr val="EDE5D8"/>
          </a:solidFill>
          <a:ln w="12700">
            <a:solidFill>
              <a:srgbClr val="C8B89A"/>
            </a:solidFill>
            <a:prstDash val="solid"/>
          </a:ln>
          <a:effectLst>
            <a:outerShdw sx="100000" sy="100000" kx="0" ky="0" algn="bl" rotWithShape="0" blurRad="152400" dist="38100" dir="8100000">
              <a:srgbClr val="8A7060">
                <a:alpha val="18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475488" y="3291840"/>
            <a:ext cx="8193024" cy="36576"/>
          </a:xfrm>
          <a:prstGeom prst="roundRect">
            <a:avLst>
              <a:gd name="adj" fmla="val 300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94360" y="3337560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4535"/>
                </a:solidFill>
              </a:rPr>
              <a:t>Every endpoint returns APIResponse — carrying request_id, status, list of Actions, and optional LLMResult.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C0552A">
              <a:alpha val="4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2743200" cy="2743200"/>
          </a:xfrm>
          <a:prstGeom prst="ellipse">
            <a:avLst/>
          </a:prstGeom>
          <a:solidFill>
            <a:srgbClr val="A8784A">
              <a:alpha val="4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64592"/>
            <a:ext cx="2011680" cy="201168"/>
          </a:xfrm>
          <a:prstGeom prst="roundRect">
            <a:avLst>
              <a:gd name="adj" fmla="val 27273"/>
            </a:avLst>
          </a:prstGeom>
          <a:solidFill>
            <a:srgbClr val="A8784A">
              <a:alpha val="20000"/>
            </a:srgbClr>
          </a:solidFill>
          <a:ln w="6350">
            <a:solidFill>
              <a:srgbClr val="A878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A8784A"/>
                </a:solidFill>
              </a:rPr>
              <a:t>02 / DATA ANALYSIS &amp; ML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43891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2011680" cy="1280160"/>
          </a:xfrm>
          <a:prstGeom prst="roundRect">
            <a:avLst>
              <a:gd name="adj" fmla="val 8571"/>
            </a:avLst>
          </a:prstGeom>
          <a:solidFill>
            <a:srgbClr val="EDE5D8"/>
          </a:solidFill>
          <a:ln w="12700">
            <a:solidFill>
              <a:srgbClr val="C8B89A"/>
            </a:solidFill>
            <a:prstDash val="solid"/>
          </a:ln>
          <a:effectLst>
            <a:outerShdw sx="100000" sy="100000" kx="0" ky="0" algn="bl" rotWithShape="0" blurRad="152400" dist="38100" dir="8100000">
              <a:srgbClr val="8A706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" y="1234440"/>
            <a:ext cx="1975104" cy="36576"/>
          </a:xfrm>
          <a:prstGeom prst="roundRect">
            <a:avLst>
              <a:gd name="adj" fmla="val 300000"/>
            </a:avLst>
          </a:prstGeom>
          <a:solidFill>
            <a:srgbClr val="C0552A">
              <a:alpha val="6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" y="1234440"/>
            <a:ext cx="1901952" cy="54864"/>
          </a:xfrm>
          <a:prstGeom prst="rect">
            <a:avLst/>
          </a:prstGeom>
          <a:solidFill>
            <a:srgbClr val="C0552A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3716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5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14,999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48640" y="19659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4535"/>
                </a:solidFill>
              </a:rPr>
              <a:t>Employees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633472" y="1234440"/>
            <a:ext cx="2011680" cy="1280160"/>
          </a:xfrm>
          <a:prstGeom prst="roundRect">
            <a:avLst>
              <a:gd name="adj" fmla="val 8571"/>
            </a:avLst>
          </a:prstGeom>
          <a:solidFill>
            <a:srgbClr val="EDE5D8"/>
          </a:solidFill>
          <a:ln w="12700">
            <a:solidFill>
              <a:srgbClr val="C8B89A"/>
            </a:solidFill>
            <a:prstDash val="solid"/>
          </a:ln>
          <a:effectLst>
            <a:outerShdw sx="100000" sy="100000" kx="0" ky="0" algn="bl" rotWithShape="0" blurRad="152400" dist="38100" dir="8100000">
              <a:srgbClr val="8A706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51760" y="1234440"/>
            <a:ext cx="1975104" cy="36576"/>
          </a:xfrm>
          <a:prstGeom prst="roundRect">
            <a:avLst>
              <a:gd name="adj" fmla="val 300000"/>
            </a:avLst>
          </a:prstGeom>
          <a:solidFill>
            <a:srgbClr val="C0552A">
              <a:alpha val="6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88336" y="1234440"/>
            <a:ext cx="1901952" cy="54864"/>
          </a:xfrm>
          <a:prstGeom prst="rect">
            <a:avLst/>
          </a:prstGeom>
          <a:solidFill>
            <a:srgbClr val="A8784A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24912" y="13716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87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2724912" y="19659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4535"/>
                </a:solidFill>
              </a:rPr>
              <a:t>Features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09744" y="1234440"/>
            <a:ext cx="2011680" cy="1280160"/>
          </a:xfrm>
          <a:prstGeom prst="roundRect">
            <a:avLst>
              <a:gd name="adj" fmla="val 8571"/>
            </a:avLst>
          </a:prstGeom>
          <a:solidFill>
            <a:srgbClr val="EDE5D8"/>
          </a:solidFill>
          <a:ln w="12700">
            <a:solidFill>
              <a:srgbClr val="C8B89A"/>
            </a:solidFill>
            <a:prstDash val="solid"/>
          </a:ln>
          <a:effectLst>
            <a:outerShdw sx="100000" sy="100000" kx="0" ky="0" algn="bl" rotWithShape="0" blurRad="152400" dist="38100" dir="8100000">
              <a:srgbClr val="8A706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28032" y="1234440"/>
            <a:ext cx="1975104" cy="36576"/>
          </a:xfrm>
          <a:prstGeom prst="roundRect">
            <a:avLst>
              <a:gd name="adj" fmla="val 300000"/>
            </a:avLst>
          </a:prstGeom>
          <a:solidFill>
            <a:srgbClr val="C0552A">
              <a:alpha val="6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4608" y="1234440"/>
            <a:ext cx="1901952" cy="54864"/>
          </a:xfrm>
          <a:prstGeom prst="rect">
            <a:avLst/>
          </a:prstGeom>
          <a:solidFill>
            <a:srgbClr val="D4855A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01184" y="13716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4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23.8%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4901184" y="19659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4535"/>
                </a:solidFill>
              </a:rPr>
              <a:t>Attrition Rate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986016" y="1234440"/>
            <a:ext cx="2011680" cy="1280160"/>
          </a:xfrm>
          <a:prstGeom prst="roundRect">
            <a:avLst>
              <a:gd name="adj" fmla="val 8571"/>
            </a:avLst>
          </a:prstGeom>
          <a:solidFill>
            <a:srgbClr val="EDE5D8"/>
          </a:solidFill>
          <a:ln w="12700">
            <a:solidFill>
              <a:srgbClr val="C8B89A"/>
            </a:solidFill>
            <a:prstDash val="solid"/>
          </a:ln>
          <a:effectLst>
            <a:outerShdw sx="100000" sy="100000" kx="0" ky="0" algn="bl" rotWithShape="0" blurRad="152400" dist="38100" dir="8100000">
              <a:srgbClr val="8A706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004304" y="1234440"/>
            <a:ext cx="1975104" cy="36576"/>
          </a:xfrm>
          <a:prstGeom prst="roundRect">
            <a:avLst>
              <a:gd name="adj" fmla="val 300000"/>
            </a:avLst>
          </a:prstGeom>
          <a:solidFill>
            <a:srgbClr val="C0552A">
              <a:alpha val="6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40880" y="1234440"/>
            <a:ext cx="1901952" cy="54864"/>
          </a:xfrm>
          <a:prstGeom prst="rect">
            <a:avLst/>
          </a:prstGeom>
          <a:solidFill>
            <a:srgbClr val="D4A86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77456" y="13716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4A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077456" y="19659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4535"/>
                </a:solidFill>
              </a:rPr>
              <a:t>HR Analytics Dataset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2697480"/>
            <a:ext cx="8229600" cy="1417320"/>
          </a:xfrm>
          <a:prstGeom prst="roundRect">
            <a:avLst>
              <a:gd name="adj" fmla="val 7742"/>
            </a:avLst>
          </a:prstGeom>
          <a:solidFill>
            <a:srgbClr val="EDE5D8"/>
          </a:solidFill>
          <a:ln w="12700">
            <a:solidFill>
              <a:srgbClr val="C8B89A"/>
            </a:solidFill>
            <a:prstDash val="solid"/>
          </a:ln>
          <a:effectLst>
            <a:outerShdw sx="100000" sy="100000" kx="0" ky="0" algn="bl" rotWithShape="0" blurRad="152400" dist="38100" dir="8100000">
              <a:srgbClr val="8A706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" y="2697480"/>
            <a:ext cx="8193024" cy="36576"/>
          </a:xfrm>
          <a:prstGeom prst="roundRect">
            <a:avLst>
              <a:gd name="adj" fmla="val 300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2752344"/>
            <a:ext cx="54864" cy="1307592"/>
          </a:xfrm>
          <a:prstGeom prst="rect">
            <a:avLst/>
          </a:prstGeom>
          <a:solidFill>
            <a:srgbClr val="A8784A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28163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784A"/>
                </a:solidFill>
              </a:rPr>
              <a:t>Features: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85800" y="3108960"/>
            <a:ext cx="2468880" cy="219456"/>
          </a:xfrm>
          <a:prstGeom prst="roundRect">
            <a:avLst>
              <a:gd name="adj" fmla="val 20833"/>
            </a:avLst>
          </a:prstGeom>
          <a:solidFill>
            <a:srgbClr val="A8784A">
              <a:alpha val="10000"/>
            </a:srgbClr>
          </a:solidFill>
          <a:ln w="3810">
            <a:solidFill>
              <a:srgbClr val="A878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127248"/>
            <a:ext cx="23225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D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SatisfactionScore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85800" y="3383280"/>
            <a:ext cx="2468880" cy="219456"/>
          </a:xfrm>
          <a:prstGeom prst="roundRect">
            <a:avLst>
              <a:gd name="adj" fmla="val 20833"/>
            </a:avLst>
          </a:prstGeom>
          <a:solidFill>
            <a:srgbClr val="A8784A">
              <a:alpha val="10000"/>
            </a:srgbClr>
          </a:solidFill>
          <a:ln w="3810">
            <a:solidFill>
              <a:srgbClr val="A878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8952" y="3401568"/>
            <a:ext cx="23225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D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LastEvaluation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85800" y="3657600"/>
            <a:ext cx="2468880" cy="219456"/>
          </a:xfrm>
          <a:prstGeom prst="roundRect">
            <a:avLst>
              <a:gd name="adj" fmla="val 20833"/>
            </a:avLst>
          </a:prstGeom>
          <a:solidFill>
            <a:srgbClr val="A8784A">
              <a:alpha val="10000"/>
            </a:srgbClr>
          </a:solidFill>
          <a:ln w="3810">
            <a:solidFill>
              <a:srgbClr val="A878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3675888"/>
            <a:ext cx="23225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D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ActiveProjects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429000" y="3108960"/>
            <a:ext cx="2468880" cy="219456"/>
          </a:xfrm>
          <a:prstGeom prst="roundRect">
            <a:avLst>
              <a:gd name="adj" fmla="val 20833"/>
            </a:avLst>
          </a:prstGeom>
          <a:solidFill>
            <a:srgbClr val="A8784A">
              <a:alpha val="10000"/>
            </a:srgbClr>
          </a:solidFill>
          <a:ln w="3810">
            <a:solidFill>
              <a:srgbClr val="A878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02152" y="3127248"/>
            <a:ext cx="23225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D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AvgMonthlyHours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429000" y="3383280"/>
            <a:ext cx="2468880" cy="219456"/>
          </a:xfrm>
          <a:prstGeom prst="roundRect">
            <a:avLst>
              <a:gd name="adj" fmla="val 20833"/>
            </a:avLst>
          </a:prstGeom>
          <a:solidFill>
            <a:srgbClr val="A8784A">
              <a:alpha val="10000"/>
            </a:srgbClr>
          </a:solidFill>
          <a:ln w="3810">
            <a:solidFill>
              <a:srgbClr val="A878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02152" y="3401568"/>
            <a:ext cx="23225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D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YearsAtCompany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429000" y="3657600"/>
            <a:ext cx="2468880" cy="219456"/>
          </a:xfrm>
          <a:prstGeom prst="roundRect">
            <a:avLst>
              <a:gd name="adj" fmla="val 20833"/>
            </a:avLst>
          </a:prstGeom>
          <a:solidFill>
            <a:srgbClr val="A8784A">
              <a:alpha val="10000"/>
            </a:srgbClr>
          </a:solidFill>
          <a:ln w="3810">
            <a:solidFill>
              <a:srgbClr val="A878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02152" y="3675888"/>
            <a:ext cx="23225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D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WorkAccidents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172200" y="3108960"/>
            <a:ext cx="2468880" cy="219456"/>
          </a:xfrm>
          <a:prstGeom prst="roundRect">
            <a:avLst>
              <a:gd name="adj" fmla="val 20833"/>
            </a:avLst>
          </a:prstGeom>
          <a:solidFill>
            <a:srgbClr val="A8784A">
              <a:alpha val="10000"/>
            </a:srgbClr>
          </a:solidFill>
          <a:ln w="3810">
            <a:solidFill>
              <a:srgbClr val="A878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45352" y="3127248"/>
            <a:ext cx="23225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D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ReceivedPromotion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172200" y="3383280"/>
            <a:ext cx="2468880" cy="219456"/>
          </a:xfrm>
          <a:prstGeom prst="roundRect">
            <a:avLst>
              <a:gd name="adj" fmla="val 20833"/>
            </a:avLst>
          </a:prstGeom>
          <a:solidFill>
            <a:srgbClr val="A8784A">
              <a:alpha val="10000"/>
            </a:srgbClr>
          </a:solidFill>
          <a:ln w="3810">
            <a:solidFill>
              <a:srgbClr val="A878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45352" y="3401568"/>
            <a:ext cx="23225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D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Department (cat.)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172200" y="3657600"/>
            <a:ext cx="2468880" cy="219456"/>
          </a:xfrm>
          <a:prstGeom prst="roundRect">
            <a:avLst>
              <a:gd name="adj" fmla="val 20833"/>
            </a:avLst>
          </a:prstGeom>
          <a:solidFill>
            <a:srgbClr val="A8784A">
              <a:alpha val="10000"/>
            </a:srgbClr>
          </a:solidFill>
          <a:ln w="3810">
            <a:solidFill>
              <a:srgbClr val="A878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45352" y="3675888"/>
            <a:ext cx="23225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D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Salary (cat.)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C0552A">
              <a:alpha val="4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2743200" cy="2743200"/>
          </a:xfrm>
          <a:prstGeom prst="ellipse">
            <a:avLst/>
          </a:prstGeom>
          <a:solidFill>
            <a:srgbClr val="A8784A">
              <a:alpha val="4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64592"/>
            <a:ext cx="2011680" cy="201168"/>
          </a:xfrm>
          <a:prstGeom prst="roundRect">
            <a:avLst>
              <a:gd name="adj" fmla="val 27273"/>
            </a:avLst>
          </a:prstGeom>
          <a:solidFill>
            <a:srgbClr val="A8784A">
              <a:alpha val="20000"/>
            </a:srgbClr>
          </a:solidFill>
          <a:ln w="6350">
            <a:solidFill>
              <a:srgbClr val="A878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A8784A"/>
                </a:solidFill>
              </a:rPr>
              <a:t>02 / DATA ANALYSIS &amp; ML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43891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Signal: Satisfaction Score</a:t>
            </a:r>
            <a:endParaRPr lang="en-US" sz="3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188720"/>
          <a:ext cx="50292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5669280" y="1234440"/>
            <a:ext cx="3017520" cy="566928"/>
          </a:xfrm>
          <a:prstGeom prst="roundRect">
            <a:avLst>
              <a:gd name="adj" fmla="val 19355"/>
            </a:avLst>
          </a:prstGeom>
          <a:solidFill>
            <a:srgbClr val="EDE5D8"/>
          </a:solidFill>
          <a:ln w="12700">
            <a:solidFill>
              <a:srgbClr val="C8B89A"/>
            </a:solidFill>
            <a:prstDash val="solid"/>
          </a:ln>
          <a:effectLst>
            <a:outerShdw sx="100000" sy="100000" kx="0" ky="0" algn="bl" rotWithShape="0" blurRad="152400" dist="38100" dir="8100000">
              <a:srgbClr val="8A706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687568" y="1234440"/>
            <a:ext cx="2980944" cy="36576"/>
          </a:xfrm>
          <a:prstGeom prst="roundRect">
            <a:avLst>
              <a:gd name="adj" fmla="val 300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669280" y="1289304"/>
            <a:ext cx="54864" cy="457200"/>
          </a:xfrm>
          <a:prstGeom prst="rect">
            <a:avLst/>
          </a:prstGeom>
          <a:solidFill>
            <a:srgbClr val="C0552A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06440" y="1325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552A"/>
                </a:solidFill>
              </a:rPr>
              <a:t>▲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236208" y="128016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552A"/>
                </a:solidFill>
              </a:rPr>
              <a:t>Strongest predictor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236208" y="1517904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4535"/>
                </a:solidFill>
              </a:rPr>
              <a:t>in the entire dataset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669280" y="1892808"/>
            <a:ext cx="3017520" cy="566928"/>
          </a:xfrm>
          <a:prstGeom prst="roundRect">
            <a:avLst>
              <a:gd name="adj" fmla="val 19355"/>
            </a:avLst>
          </a:prstGeom>
          <a:solidFill>
            <a:srgbClr val="EDE5D8"/>
          </a:solidFill>
          <a:ln w="12700">
            <a:solidFill>
              <a:srgbClr val="C8B89A"/>
            </a:solidFill>
            <a:prstDash val="solid"/>
          </a:ln>
          <a:effectLst>
            <a:outerShdw sx="100000" sy="100000" kx="0" ky="0" algn="bl" rotWithShape="0" blurRad="152400" dist="38100" dir="8100000">
              <a:srgbClr val="8A706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687568" y="1892808"/>
            <a:ext cx="2980944" cy="36576"/>
          </a:xfrm>
          <a:prstGeom prst="roundRect">
            <a:avLst>
              <a:gd name="adj" fmla="val 300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669280" y="1947672"/>
            <a:ext cx="54864" cy="457200"/>
          </a:xfrm>
          <a:prstGeom prst="rect">
            <a:avLst/>
          </a:prstGeom>
          <a:solidFill>
            <a:srgbClr val="D4855A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06440" y="1984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855A"/>
                </a:solidFill>
              </a:rPr>
              <a:t>▼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236208" y="1938528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855A"/>
                </a:solidFill>
              </a:rPr>
              <a:t>&gt;60% attrition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236208" y="2176272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4535"/>
                </a:solidFill>
              </a:rPr>
              <a:t>in lowest bucket (0–0.2)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5669280" y="2551176"/>
            <a:ext cx="3017520" cy="566928"/>
          </a:xfrm>
          <a:prstGeom prst="roundRect">
            <a:avLst>
              <a:gd name="adj" fmla="val 19355"/>
            </a:avLst>
          </a:prstGeom>
          <a:solidFill>
            <a:srgbClr val="EDE5D8"/>
          </a:solidFill>
          <a:ln w="12700">
            <a:solidFill>
              <a:srgbClr val="C8B89A"/>
            </a:solidFill>
            <a:prstDash val="solid"/>
          </a:ln>
          <a:effectLst>
            <a:outerShdw sx="100000" sy="100000" kx="0" ky="0" algn="bl" rotWithShape="0" blurRad="152400" dist="38100" dir="8100000">
              <a:srgbClr val="8A706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687568" y="2551176"/>
            <a:ext cx="2980944" cy="36576"/>
          </a:xfrm>
          <a:prstGeom prst="roundRect">
            <a:avLst>
              <a:gd name="adj" fmla="val 300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669280" y="2606040"/>
            <a:ext cx="54864" cy="457200"/>
          </a:xfrm>
          <a:prstGeom prst="rect">
            <a:avLst/>
          </a:prstGeom>
          <a:solidFill>
            <a:srgbClr val="8FAF6A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806440" y="26426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FAF6A"/>
                </a:solidFill>
              </a:rPr>
              <a:t>✦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236208" y="2596896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FAF6A"/>
                </a:solidFill>
              </a:rPr>
              <a:t>&lt;5% attrition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236208" y="283464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4535"/>
                </a:solidFill>
              </a:rPr>
              <a:t>in highest bucket (0.8–1.0)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5669280" y="3209544"/>
            <a:ext cx="3017520" cy="566928"/>
          </a:xfrm>
          <a:prstGeom prst="roundRect">
            <a:avLst>
              <a:gd name="adj" fmla="val 19355"/>
            </a:avLst>
          </a:prstGeom>
          <a:solidFill>
            <a:srgbClr val="EDE5D8"/>
          </a:solidFill>
          <a:ln w="12700">
            <a:solidFill>
              <a:srgbClr val="C8B89A"/>
            </a:solidFill>
            <a:prstDash val="solid"/>
          </a:ln>
          <a:effectLst>
            <a:outerShdw sx="100000" sy="100000" kx="0" ky="0" algn="bl" rotWithShape="0" blurRad="152400" dist="38100" dir="8100000">
              <a:srgbClr val="8A7060">
                <a:alpha val="1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5687568" y="3209544"/>
            <a:ext cx="2980944" cy="36576"/>
          </a:xfrm>
          <a:prstGeom prst="roundRect">
            <a:avLst>
              <a:gd name="adj" fmla="val 300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669280" y="3264408"/>
            <a:ext cx="54864" cy="457200"/>
          </a:xfrm>
          <a:prstGeom prst="rect">
            <a:avLst/>
          </a:prstGeom>
          <a:solidFill>
            <a:srgbClr val="A8784A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806440" y="33009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784A"/>
                </a:solidFill>
              </a:rPr>
              <a:t>→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236208" y="3255264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784A"/>
                </a:solidFill>
              </a:rPr>
              <a:t>Monotonic effect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236208" y="3493008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4535"/>
                </a:solidFill>
              </a:rPr>
              <a:t>no exceptions in any bucket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5669280" y="3886200"/>
            <a:ext cx="3017520" cy="457200"/>
          </a:xfrm>
          <a:prstGeom prst="roundRect">
            <a:avLst>
              <a:gd name="adj" fmla="val 24000"/>
            </a:avLst>
          </a:prstGeom>
          <a:solidFill>
            <a:srgbClr val="EDE5D8"/>
          </a:solidFill>
          <a:ln w="12700">
            <a:solidFill>
              <a:srgbClr val="C8B89A"/>
            </a:solidFill>
            <a:prstDash val="solid"/>
          </a:ln>
          <a:effectLst>
            <a:outerShdw sx="100000" sy="100000" kx="0" ky="0" algn="bl" rotWithShape="0" blurRad="152400" dist="38100" dir="8100000">
              <a:srgbClr val="8A7060">
                <a:alpha val="18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5687568" y="3886200"/>
            <a:ext cx="2980944" cy="36576"/>
          </a:xfrm>
          <a:prstGeom prst="roundRect">
            <a:avLst>
              <a:gd name="adj" fmla="val 300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806440" y="391363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4535"/>
                </a:solidFill>
              </a:rPr>
              <a:t>Avg score: 0.44 (left)  vs  0.67 (stayed)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C0552A">
              <a:alpha val="4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2743200" cy="2743200"/>
          </a:xfrm>
          <a:prstGeom prst="ellipse">
            <a:avLst/>
          </a:prstGeom>
          <a:solidFill>
            <a:srgbClr val="A8784A">
              <a:alpha val="4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64592"/>
            <a:ext cx="2011680" cy="201168"/>
          </a:xfrm>
          <a:prstGeom prst="roundRect">
            <a:avLst>
              <a:gd name="adj" fmla="val 27273"/>
            </a:avLst>
          </a:prstGeom>
          <a:solidFill>
            <a:srgbClr val="A8784A">
              <a:alpha val="20000"/>
            </a:srgbClr>
          </a:solidFill>
          <a:ln w="6350">
            <a:solidFill>
              <a:srgbClr val="A878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A8784A"/>
                </a:solidFill>
              </a:rPr>
              <a:t>02 / DATA ANALYSIS &amp; ML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43891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Patterns</a:t>
            </a:r>
            <a:endParaRPr lang="en-US" sz="36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143000"/>
          <a:ext cx="50292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Chart 1" descr=""/>
          <p:cNvGraphicFramePr/>
          <p:nvPr/>
        </p:nvGraphicFramePr>
        <p:xfrm>
          <a:off x="5669280" y="1143000"/>
          <a:ext cx="301752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5669280" y="2926080"/>
            <a:ext cx="3017520" cy="1691640"/>
          </a:xfrm>
          <a:prstGeom prst="roundRect">
            <a:avLst>
              <a:gd name="adj" fmla="val 6486"/>
            </a:avLst>
          </a:prstGeom>
          <a:solidFill>
            <a:srgbClr val="EDE5D8"/>
          </a:solidFill>
          <a:ln w="12700">
            <a:solidFill>
              <a:srgbClr val="C8B89A"/>
            </a:solidFill>
            <a:prstDash val="solid"/>
          </a:ln>
          <a:effectLst>
            <a:outerShdw sx="100000" sy="100000" kx="0" ky="0" algn="bl" rotWithShape="0" blurRad="152400" dist="38100" dir="8100000">
              <a:srgbClr val="8A7060">
                <a:alpha val="1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5687568" y="2926080"/>
            <a:ext cx="2980944" cy="36576"/>
          </a:xfrm>
          <a:prstGeom prst="roundRect">
            <a:avLst>
              <a:gd name="adj" fmla="val 300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669280" y="2980944"/>
            <a:ext cx="54864" cy="1581912"/>
          </a:xfrm>
          <a:prstGeom prst="rect">
            <a:avLst/>
          </a:prstGeom>
          <a:solidFill>
            <a:srgbClr val="D4A86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852160" y="30632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60"/>
                </a:solidFill>
              </a:rPr>
              <a:t>Key Takeaways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5852160" y="338328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A4535"/>
                </a:solidFill>
              </a:rPr>
              <a:t>Low salary → 30% attrition
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A4535"/>
                </a:solidFill>
              </a:rPr>
              <a:t>HR &amp; Accounting highest risk depts
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A4535"/>
                </a:solidFill>
              </a:rPr>
              <a:t>R&amp;D and Management most stable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C0552A">
              <a:alpha val="4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2743200" cy="2743200"/>
          </a:xfrm>
          <a:prstGeom prst="ellipse">
            <a:avLst/>
          </a:prstGeom>
          <a:solidFill>
            <a:srgbClr val="A8784A">
              <a:alpha val="4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64592"/>
            <a:ext cx="2011680" cy="201168"/>
          </a:xfrm>
          <a:prstGeom prst="roundRect">
            <a:avLst>
              <a:gd name="adj" fmla="val 27273"/>
            </a:avLst>
          </a:prstGeom>
          <a:solidFill>
            <a:srgbClr val="A8784A">
              <a:alpha val="20000"/>
            </a:srgbClr>
          </a:solidFill>
          <a:ln w="6350">
            <a:solidFill>
              <a:srgbClr val="A878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A8784A"/>
                </a:solidFill>
              </a:rPr>
              <a:t>02 / DATA ANALYSIS &amp; ML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43891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Patterns</a:t>
            </a:r>
            <a:endParaRPr lang="en-US" sz="36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143000"/>
          <a:ext cx="41148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Chart 1" descr=""/>
          <p:cNvGraphicFramePr/>
          <p:nvPr/>
        </p:nvGraphicFramePr>
        <p:xfrm>
          <a:off x="4754880" y="1143000"/>
          <a:ext cx="393192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457200" y="342900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EDE5D8"/>
          </a:solidFill>
          <a:ln w="12700">
            <a:solidFill>
              <a:srgbClr val="C8B89A"/>
            </a:solidFill>
            <a:prstDash val="solid"/>
          </a:ln>
          <a:effectLst>
            <a:outerShdw sx="100000" sy="100000" kx="0" ky="0" algn="bl" rotWithShape="0" blurRad="152400" dist="38100" dir="8100000">
              <a:srgbClr val="8A7060">
                <a:alpha val="1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475488" y="3429000"/>
            <a:ext cx="2615184" cy="36576"/>
          </a:xfrm>
          <a:prstGeom prst="roundRect">
            <a:avLst>
              <a:gd name="adj" fmla="val 300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12064" y="3429000"/>
            <a:ext cx="2542032" cy="54864"/>
          </a:xfrm>
          <a:prstGeom prst="rect">
            <a:avLst/>
          </a:prstGeom>
          <a:solidFill>
            <a:srgbClr val="D4855A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94360" y="361188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4535"/>
                </a:solidFill>
              </a:rPr>
              <a:t>Overworked (&gt;250h/mo) show 3× higher attrition — burnout signal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3355848" y="342900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EDE5D8"/>
          </a:solidFill>
          <a:ln w="12700">
            <a:solidFill>
              <a:srgbClr val="C8B89A"/>
            </a:solidFill>
            <a:prstDash val="solid"/>
          </a:ln>
          <a:effectLst>
            <a:outerShdw sx="100000" sy="100000" kx="0" ky="0" algn="bl" rotWithShape="0" blurRad="152400" dist="38100" dir="8100000">
              <a:srgbClr val="8A7060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374136" y="3429000"/>
            <a:ext cx="2615184" cy="36576"/>
          </a:xfrm>
          <a:prstGeom prst="roundRect">
            <a:avLst>
              <a:gd name="adj" fmla="val 300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410712" y="3429000"/>
            <a:ext cx="2542032" cy="54864"/>
          </a:xfrm>
          <a:prstGeom prst="rect">
            <a:avLst/>
          </a:prstGeom>
          <a:solidFill>
            <a:srgbClr val="A8784A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493008" y="361188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4535"/>
                </a:solidFill>
              </a:rPr>
              <a:t>U-shaped project curve: too few (disengaged) or too many (burned out)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254496" y="342900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EDE5D8"/>
          </a:solidFill>
          <a:ln w="12700">
            <a:solidFill>
              <a:srgbClr val="C8B89A"/>
            </a:solidFill>
            <a:prstDash val="solid"/>
          </a:ln>
          <a:effectLst>
            <a:outerShdw sx="100000" sy="100000" kx="0" ky="0" algn="bl" rotWithShape="0" blurRad="152400" dist="38100" dir="8100000">
              <a:srgbClr val="8A706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272784" y="3429000"/>
            <a:ext cx="2615184" cy="36576"/>
          </a:xfrm>
          <a:prstGeom prst="roundRect">
            <a:avLst>
              <a:gd name="adj" fmla="val 300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309360" y="3429000"/>
            <a:ext cx="2542032" cy="54864"/>
          </a:xfrm>
          <a:prstGeom prst="rect">
            <a:avLst/>
          </a:prstGeom>
          <a:solidFill>
            <a:srgbClr val="D4A86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391656" y="361188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4535"/>
                </a:solidFill>
              </a:rPr>
              <a:t>Linear models would miss these interactions — justifies tree-based approach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C0552A">
              <a:alpha val="4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2743200" cy="2743200"/>
          </a:xfrm>
          <a:prstGeom prst="ellipse">
            <a:avLst/>
          </a:prstGeom>
          <a:solidFill>
            <a:srgbClr val="A8784A">
              <a:alpha val="4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64592"/>
            <a:ext cx="2011680" cy="201168"/>
          </a:xfrm>
          <a:prstGeom prst="roundRect">
            <a:avLst>
              <a:gd name="adj" fmla="val 27273"/>
            </a:avLst>
          </a:prstGeom>
          <a:solidFill>
            <a:srgbClr val="A8784A">
              <a:alpha val="20000"/>
            </a:srgbClr>
          </a:solidFill>
          <a:ln w="6350">
            <a:solidFill>
              <a:srgbClr val="A878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A8784A"/>
                </a:solidFill>
              </a:rPr>
              <a:t>02 / DATA ANALYSIS &amp; ML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43891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Approach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4114800" cy="3474720"/>
          </a:xfrm>
          <a:prstGeom prst="roundRect">
            <a:avLst>
              <a:gd name="adj" fmla="val 3158"/>
            </a:avLst>
          </a:prstGeom>
          <a:solidFill>
            <a:srgbClr val="EDE5D8"/>
          </a:solidFill>
          <a:ln w="12700">
            <a:solidFill>
              <a:srgbClr val="C8B89A"/>
            </a:solidFill>
            <a:prstDash val="solid"/>
          </a:ln>
          <a:effectLst>
            <a:outerShdw sx="100000" sy="100000" kx="0" ky="0" algn="bl" rotWithShape="0" blurRad="152400" dist="38100" dir="8100000">
              <a:srgbClr val="8A706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" y="1143000"/>
            <a:ext cx="4078224" cy="36576"/>
          </a:xfrm>
          <a:prstGeom prst="roundRect">
            <a:avLst>
              <a:gd name="adj" fmla="val 300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97864"/>
            <a:ext cx="54864" cy="3364992"/>
          </a:xfrm>
          <a:prstGeom prst="rect">
            <a:avLst/>
          </a:prstGeom>
          <a:solidFill>
            <a:srgbClr val="A8784A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26187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7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1627632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5A4535"/>
                </a:solidFill>
              </a:rPr>
              <a:t>14,999 employees · 9 features · binary target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5A4535"/>
                </a:solidFill>
              </a:rPr>
              <a:t>80% train / 20% test — stratified on attrition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5A4535"/>
                </a:solidFill>
              </a:rPr>
              <a:t>Primary metric: ROC-AUC (handles class imbalance)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5A4535"/>
                </a:solidFill>
              </a:rPr>
              <a:t>Secondary: Avg Precision · Recall · F1 · Brier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5A4535"/>
                </a:solidFill>
              </a:rPr>
              <a:t>Calibration: CalibratedClassifierCV (isotonic, cv=5)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5A4535"/>
                </a:solidFill>
              </a:rPr>
              <a:t>Interpretability: permutation importance (10 repeats)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1143000"/>
            <a:ext cx="3931920" cy="3474720"/>
          </a:xfrm>
          <a:prstGeom prst="roundRect">
            <a:avLst>
              <a:gd name="adj" fmla="val 3158"/>
            </a:avLst>
          </a:prstGeom>
          <a:solidFill>
            <a:srgbClr val="EDE5D8"/>
          </a:solidFill>
          <a:ln w="12700">
            <a:solidFill>
              <a:srgbClr val="C8B89A"/>
            </a:solidFill>
            <a:prstDash val="solid"/>
          </a:ln>
          <a:effectLst>
            <a:outerShdw sx="100000" sy="100000" kx="0" ky="0" algn="bl" rotWithShape="0" blurRad="152400" dist="38100" dir="8100000">
              <a:srgbClr val="8A706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73168" y="1143000"/>
            <a:ext cx="3895344" cy="36576"/>
          </a:xfrm>
          <a:prstGeom prst="roundRect">
            <a:avLst>
              <a:gd name="adj" fmla="val 300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197864"/>
            <a:ext cx="54864" cy="3364992"/>
          </a:xfrm>
          <a:prstGeom prst="rect">
            <a:avLst/>
          </a:prstGeom>
          <a:solidFill>
            <a:srgbClr val="D4855A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26187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Evaluated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171907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4535"/>
                </a:solidFill>
              </a:rPr>
              <a:t>   Dummy baseline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83480" y="22128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4535"/>
                </a:solidFill>
              </a:rPr>
              <a:t>   Logistic Regression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83480" y="270662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4535"/>
                </a:solidFill>
              </a:rPr>
              <a:t>   Decision Tree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83480" y="32004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4535"/>
                </a:solidFill>
              </a:rPr>
              <a:t>   Random Forest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92040" y="3639312"/>
            <a:ext cx="3657600" cy="384048"/>
          </a:xfrm>
          <a:prstGeom prst="roundRect">
            <a:avLst>
              <a:gd name="adj" fmla="val 16667"/>
            </a:avLst>
          </a:prstGeom>
          <a:solidFill>
            <a:srgbClr val="8FAF6A">
              <a:alpha val="20000"/>
            </a:srgbClr>
          </a:solidFill>
          <a:ln w="12700">
            <a:solidFill>
              <a:srgbClr val="8FAF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369417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FAF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★ HistGradientBoosting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132320" y="369417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FAF6A"/>
                </a:solidFill>
              </a:rPr>
              <a:t>← selected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983480" y="41879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4535"/>
                </a:solidFill>
              </a:rPr>
              <a:t>   Stacked Ensemble (LR+RF+HGB)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C0552A">
              <a:alpha val="4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2743200" cy="2743200"/>
          </a:xfrm>
          <a:prstGeom prst="ellipse">
            <a:avLst/>
          </a:prstGeom>
          <a:solidFill>
            <a:srgbClr val="A8784A">
              <a:alpha val="4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64592"/>
            <a:ext cx="2011680" cy="201168"/>
          </a:xfrm>
          <a:prstGeom prst="roundRect">
            <a:avLst>
              <a:gd name="adj" fmla="val 27273"/>
            </a:avLst>
          </a:prstGeom>
          <a:solidFill>
            <a:srgbClr val="A8784A">
              <a:alpha val="20000"/>
            </a:srgbClr>
          </a:solidFill>
          <a:ln w="6350">
            <a:solidFill>
              <a:srgbClr val="A878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A8784A"/>
                </a:solidFill>
              </a:rPr>
              <a:t>02 / DATA ANALYSIS &amp; ML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43891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— ROC-AUC</a:t>
            </a:r>
            <a:endParaRPr lang="en-US" sz="36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143000"/>
          <a:ext cx="56692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309360" y="1143000"/>
            <a:ext cx="2377440" cy="3474720"/>
          </a:xfrm>
          <a:prstGeom prst="roundRect">
            <a:avLst>
              <a:gd name="adj" fmla="val 4615"/>
            </a:avLst>
          </a:prstGeom>
          <a:solidFill>
            <a:srgbClr val="EDE5D8"/>
          </a:solidFill>
          <a:ln w="12700">
            <a:solidFill>
              <a:srgbClr val="C8B89A"/>
            </a:solidFill>
            <a:prstDash val="solid"/>
          </a:ln>
          <a:effectLst>
            <a:outerShdw sx="100000" sy="100000" kx="0" ky="0" algn="bl" rotWithShape="0" blurRad="152400" dist="38100" dir="8100000">
              <a:srgbClr val="8A706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327648" y="1143000"/>
            <a:ext cx="2340864" cy="36576"/>
          </a:xfrm>
          <a:prstGeom prst="roundRect">
            <a:avLst>
              <a:gd name="adj" fmla="val 300000"/>
            </a:avLst>
          </a:prstGeom>
          <a:solidFill>
            <a:srgbClr val="C0552A">
              <a:alpha val="6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64224" y="1143000"/>
            <a:ext cx="2267712" cy="54864"/>
          </a:xfrm>
          <a:prstGeom prst="rect">
            <a:avLst/>
          </a:prstGeom>
          <a:solidFill>
            <a:srgbClr val="8FAF6A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0" y="13258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F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46520" y="1783080"/>
            <a:ext cx="2103120" cy="548640"/>
          </a:xfrm>
          <a:prstGeom prst="roundRect">
            <a:avLst>
              <a:gd name="adj" fmla="val 20000"/>
            </a:avLst>
          </a:prstGeom>
          <a:solidFill>
            <a:srgbClr val="EDE5D8"/>
          </a:solidFill>
          <a:ln w="12700">
            <a:solidFill>
              <a:srgbClr val="C8B89A"/>
            </a:solidFill>
            <a:prstDash val="solid"/>
          </a:ln>
          <a:effectLst>
            <a:outerShdw sx="100000" sy="100000" kx="0" ky="0" algn="bl" rotWithShape="0" blurRad="152400" dist="38100" dir="8100000">
              <a:srgbClr val="8A706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64808" y="1783080"/>
            <a:ext cx="2066544" cy="36576"/>
          </a:xfrm>
          <a:prstGeom prst="roundRect">
            <a:avLst>
              <a:gd name="adj" fmla="val 300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46520" y="1837944"/>
            <a:ext cx="54864" cy="438912"/>
          </a:xfrm>
          <a:prstGeom prst="rect">
            <a:avLst/>
          </a:prstGeom>
          <a:solidFill>
            <a:srgbClr val="8FAF6A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29400" y="1874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F6A"/>
                </a:solidFill>
              </a:rPr>
              <a:t>Best ROC-AUC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446520" y="2496312"/>
            <a:ext cx="2103120" cy="548640"/>
          </a:xfrm>
          <a:prstGeom prst="roundRect">
            <a:avLst>
              <a:gd name="adj" fmla="val 20000"/>
            </a:avLst>
          </a:prstGeom>
          <a:solidFill>
            <a:srgbClr val="EDE5D8"/>
          </a:solidFill>
          <a:ln w="12700">
            <a:solidFill>
              <a:srgbClr val="C8B89A"/>
            </a:solidFill>
            <a:prstDash val="solid"/>
          </a:ln>
          <a:effectLst>
            <a:outerShdw sx="100000" sy="100000" kx="0" ky="0" algn="bl" rotWithShape="0" blurRad="152400" dist="38100" dir="8100000">
              <a:srgbClr val="8A706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464808" y="2496312"/>
            <a:ext cx="2066544" cy="36576"/>
          </a:xfrm>
          <a:prstGeom prst="roundRect">
            <a:avLst>
              <a:gd name="adj" fmla="val 300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46520" y="2551176"/>
            <a:ext cx="54864" cy="438912"/>
          </a:xfrm>
          <a:prstGeom prst="rect">
            <a:avLst/>
          </a:prstGeom>
          <a:solidFill>
            <a:srgbClr val="8FAF6A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629400" y="258775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F6A"/>
                </a:solidFill>
              </a:rPr>
              <a:t>Best Brier score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446520" y="3209544"/>
            <a:ext cx="2103120" cy="548640"/>
          </a:xfrm>
          <a:prstGeom prst="roundRect">
            <a:avLst>
              <a:gd name="adj" fmla="val 20000"/>
            </a:avLst>
          </a:prstGeom>
          <a:solidFill>
            <a:srgbClr val="EDE5D8"/>
          </a:solidFill>
          <a:ln w="12700">
            <a:solidFill>
              <a:srgbClr val="C8B89A"/>
            </a:solidFill>
            <a:prstDash val="solid"/>
          </a:ln>
          <a:effectLst>
            <a:outerShdw sx="100000" sy="100000" kx="0" ky="0" algn="bl" rotWithShape="0" blurRad="152400" dist="38100" dir="8100000">
              <a:srgbClr val="8A706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464808" y="3209544"/>
            <a:ext cx="2066544" cy="36576"/>
          </a:xfrm>
          <a:prstGeom prst="roundRect">
            <a:avLst>
              <a:gd name="adj" fmla="val 300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46520" y="3264408"/>
            <a:ext cx="54864" cy="438912"/>
          </a:xfrm>
          <a:prstGeom prst="rect">
            <a:avLst/>
          </a:prstGeom>
          <a:solidFill>
            <a:srgbClr val="C0552A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29400" y="330098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552A"/>
                </a:solidFill>
              </a:rPr>
              <a:t>Simpler than ensemble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446520" y="3922776"/>
            <a:ext cx="2103120" cy="548640"/>
          </a:xfrm>
          <a:prstGeom prst="roundRect">
            <a:avLst>
              <a:gd name="adj" fmla="val 20000"/>
            </a:avLst>
          </a:prstGeom>
          <a:solidFill>
            <a:srgbClr val="EDE5D8"/>
          </a:solidFill>
          <a:ln w="12700">
            <a:solidFill>
              <a:srgbClr val="C8B89A"/>
            </a:solidFill>
            <a:prstDash val="solid"/>
          </a:ln>
          <a:effectLst>
            <a:outerShdw sx="100000" sy="100000" kx="0" ky="0" algn="bl" rotWithShape="0" blurRad="152400" dist="38100" dir="8100000">
              <a:srgbClr val="8A7060">
                <a:alpha val="1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464808" y="3922776"/>
            <a:ext cx="2066544" cy="36576"/>
          </a:xfrm>
          <a:prstGeom prst="roundRect">
            <a:avLst>
              <a:gd name="adj" fmla="val 300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46520" y="3977640"/>
            <a:ext cx="54864" cy="438912"/>
          </a:xfrm>
          <a:prstGeom prst="rect">
            <a:avLst/>
          </a:prstGeom>
          <a:solidFill>
            <a:srgbClr val="C0552A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629400" y="401421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552A"/>
                </a:solidFill>
              </a:rPr>
              <a:t>Native NaN support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C0552A">
              <a:alpha val="4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2743200" cy="2743200"/>
          </a:xfrm>
          <a:prstGeom prst="ellipse">
            <a:avLst/>
          </a:prstGeom>
          <a:solidFill>
            <a:srgbClr val="A8784A">
              <a:alpha val="4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64592"/>
            <a:ext cx="2011680" cy="201168"/>
          </a:xfrm>
          <a:prstGeom prst="roundRect">
            <a:avLst>
              <a:gd name="adj" fmla="val 27273"/>
            </a:avLst>
          </a:prstGeom>
          <a:solidFill>
            <a:srgbClr val="A8784A">
              <a:alpha val="20000"/>
            </a:srgbClr>
          </a:solidFill>
          <a:ln w="6350">
            <a:solidFill>
              <a:srgbClr val="A878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A8784A"/>
                </a:solidFill>
              </a:rPr>
              <a:t>02 / DATA ANALYSIS &amp; ML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43891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Winner: HistGradientBoosting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sklearn.ensemble.HistGradientBoostingClassifier  +  CalibratedClassifierCV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C0552A">
              <a:alpha val="18000"/>
            </a:srgbClr>
          </a:solidFill>
          <a:ln w="6350">
            <a:solidFill>
              <a:srgbClr val="C055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716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552A"/>
                </a:solidFill>
              </a:rPr>
              <a:t>Metric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26080" y="1371600"/>
            <a:ext cx="1371600" cy="292608"/>
          </a:xfrm>
          <a:prstGeom prst="roundRect">
            <a:avLst>
              <a:gd name="adj" fmla="val 18750"/>
            </a:avLst>
          </a:prstGeom>
          <a:solidFill>
            <a:srgbClr val="C0552A">
              <a:alpha val="18000"/>
            </a:srgbClr>
          </a:solidFill>
          <a:ln w="6350">
            <a:solidFill>
              <a:srgbClr val="C055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0" y="13716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552A"/>
                </a:solidFill>
              </a:rPr>
              <a:t>Score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1371600"/>
            <a:ext cx="4023360" cy="292608"/>
          </a:xfrm>
          <a:prstGeom prst="roundRect">
            <a:avLst>
              <a:gd name="adj" fmla="val 18750"/>
            </a:avLst>
          </a:prstGeom>
          <a:solidFill>
            <a:srgbClr val="C0552A">
              <a:alpha val="18000"/>
            </a:srgbClr>
          </a:solidFill>
          <a:ln w="6350">
            <a:solidFill>
              <a:srgbClr val="C055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3716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552A"/>
                </a:solidFill>
              </a:rPr>
              <a:t>Meaning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1737360"/>
            <a:ext cx="8229600" cy="438912"/>
          </a:xfrm>
          <a:prstGeom prst="rect">
            <a:avLst/>
          </a:prstGeom>
          <a:solidFill>
            <a:srgbClr val="E8DFD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81965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D2D1E"/>
                </a:solidFill>
              </a:rPr>
              <a:t>ROC-AUC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926080" y="181965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FAF6A"/>
                </a:solidFill>
              </a:rPr>
              <a:t>0.9944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0" y="181965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4535"/>
                </a:solidFill>
              </a:rPr>
              <a:t>Near-perfect discrimination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212848"/>
            <a:ext cx="8229600" cy="438912"/>
          </a:xfrm>
          <a:prstGeom prst="rect">
            <a:avLst/>
          </a:prstGeom>
          <a:solidFill>
            <a:srgbClr val="EDE5D8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29514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D2D1E"/>
                </a:solidFill>
              </a:rPr>
              <a:t>Avg Precision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926080" y="229514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FAF6A"/>
                </a:solidFill>
              </a:rPr>
              <a:t>0.9900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0" y="229514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4535"/>
                </a:solidFill>
              </a:rPr>
              <a:t>Reliable across thresholds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688336"/>
            <a:ext cx="8229600" cy="438912"/>
          </a:xfrm>
          <a:prstGeom prst="rect">
            <a:avLst/>
          </a:prstGeom>
          <a:solidFill>
            <a:srgbClr val="E8DFD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77063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D2D1E"/>
                </a:solidFill>
              </a:rPr>
              <a:t>Recall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926080" y="277063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552A"/>
                </a:solidFill>
              </a:rPr>
              <a:t>0.9678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0" y="27706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4535"/>
                </a:solidFill>
              </a:rPr>
              <a:t>Catches ~97% of actual leavers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163824"/>
            <a:ext cx="8229600" cy="438912"/>
          </a:xfrm>
          <a:prstGeom prst="rect">
            <a:avLst/>
          </a:prstGeom>
          <a:solidFill>
            <a:srgbClr val="EDE5D8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2461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D2D1E"/>
                </a:solidFill>
              </a:rPr>
              <a:t>F1 Score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926080" y="32461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552A"/>
                </a:solidFill>
              </a:rPr>
              <a:t>0.9678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0" y="32461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4535"/>
                </a:solidFill>
              </a:rPr>
              <a:t>Balanced precision/recall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639312"/>
            <a:ext cx="8229600" cy="438912"/>
          </a:xfrm>
          <a:prstGeom prst="rect">
            <a:avLst/>
          </a:prstGeom>
          <a:solidFill>
            <a:srgbClr val="E8DFD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72160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D2D1E"/>
                </a:solidFill>
              </a:rPr>
              <a:t>Brier Score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926080" y="37216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8784A"/>
                </a:solidFill>
              </a:rPr>
              <a:t>0.0119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72000" y="372160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4535"/>
                </a:solidFill>
              </a:rPr>
              <a:t>Calibrated probability error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251960"/>
            <a:ext cx="8229600" cy="502920"/>
          </a:xfrm>
          <a:prstGeom prst="roundRect">
            <a:avLst>
              <a:gd name="adj" fmla="val 21818"/>
            </a:avLst>
          </a:prstGeom>
          <a:solidFill>
            <a:srgbClr val="EDE5D8"/>
          </a:solidFill>
          <a:ln w="12700">
            <a:solidFill>
              <a:srgbClr val="C8B89A"/>
            </a:solidFill>
            <a:prstDash val="solid"/>
          </a:ln>
          <a:effectLst>
            <a:outerShdw sx="100000" sy="100000" kx="0" ky="0" algn="bl" rotWithShape="0" blurRad="152400" dist="38100" dir="8100000">
              <a:srgbClr val="8A706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" y="4251960"/>
            <a:ext cx="8193024" cy="36576"/>
          </a:xfrm>
          <a:prstGeom prst="roundRect">
            <a:avLst>
              <a:gd name="adj" fmla="val 300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4297680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4535"/>
                </a:solidFill>
              </a:rPr>
              <a:t>Model is wrapped in CalibratedClassifierCV(method='isotonic', cv=5) so predicted probabilities are true estimates of attrition risk — not just rankings.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C0552A">
              <a:alpha val="4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2743200" cy="2743200"/>
          </a:xfrm>
          <a:prstGeom prst="ellipse">
            <a:avLst/>
          </a:prstGeom>
          <a:solidFill>
            <a:srgbClr val="A8784A">
              <a:alpha val="4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64592"/>
            <a:ext cx="2011680" cy="201168"/>
          </a:xfrm>
          <a:prstGeom prst="roundRect">
            <a:avLst>
              <a:gd name="adj" fmla="val 27273"/>
            </a:avLst>
          </a:prstGeom>
          <a:solidFill>
            <a:srgbClr val="A8784A">
              <a:alpha val="20000"/>
            </a:srgbClr>
          </a:solidFill>
          <a:ln w="6350">
            <a:solidFill>
              <a:srgbClr val="A878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A8784A"/>
                </a:solidFill>
              </a:rPr>
              <a:t>02 / DATA ANALYSIS &amp; ML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43891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4535"/>
                </a:solidFill>
              </a:rPr>
              <a:t>Isotonic calibration (5-fold CV) improves probability reliability while preserving discriminative power.</a:t>
            </a:r>
            <a:endParaRPr lang="en-US" sz="10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137160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5669280" y="1371600"/>
            <a:ext cx="3017520" cy="804672"/>
          </a:xfrm>
          <a:prstGeom prst="roundRect">
            <a:avLst>
              <a:gd name="adj" fmla="val 13636"/>
            </a:avLst>
          </a:prstGeom>
          <a:solidFill>
            <a:srgbClr val="EDE5D8"/>
          </a:solidFill>
          <a:ln w="12700">
            <a:solidFill>
              <a:srgbClr val="C8B89A"/>
            </a:solidFill>
            <a:prstDash val="solid"/>
          </a:ln>
          <a:effectLst>
            <a:outerShdw sx="100000" sy="100000" kx="0" ky="0" algn="bl" rotWithShape="0" blurRad="152400" dist="38100" dir="8100000">
              <a:srgbClr val="8A706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87568" y="1371600"/>
            <a:ext cx="2980944" cy="36576"/>
          </a:xfrm>
          <a:prstGeom prst="roundRect">
            <a:avLst>
              <a:gd name="adj" fmla="val 300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669280" y="1426464"/>
            <a:ext cx="54864" cy="694944"/>
          </a:xfrm>
          <a:prstGeom prst="rect">
            <a:avLst/>
          </a:prstGeom>
          <a:solidFill>
            <a:srgbClr val="C0552A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70448" y="1435608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552A"/>
                </a:solidFill>
              </a:rPr>
              <a:t>ROC-AUC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870448" y="166420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D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0.9947 → 0.9944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516368" y="166420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0552A"/>
                </a:solidFill>
              </a:rPr>
              <a:t>negligible loss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669280" y="2331720"/>
            <a:ext cx="3017520" cy="804672"/>
          </a:xfrm>
          <a:prstGeom prst="roundRect">
            <a:avLst>
              <a:gd name="adj" fmla="val 13636"/>
            </a:avLst>
          </a:prstGeom>
          <a:solidFill>
            <a:srgbClr val="EDE5D8"/>
          </a:solidFill>
          <a:ln w="12700">
            <a:solidFill>
              <a:srgbClr val="C8B89A"/>
            </a:solidFill>
            <a:prstDash val="solid"/>
          </a:ln>
          <a:effectLst>
            <a:outerShdw sx="100000" sy="100000" kx="0" ky="0" algn="bl" rotWithShape="0" blurRad="152400" dist="38100" dir="8100000">
              <a:srgbClr val="8A706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87568" y="2331720"/>
            <a:ext cx="2980944" cy="36576"/>
          </a:xfrm>
          <a:prstGeom prst="roundRect">
            <a:avLst>
              <a:gd name="adj" fmla="val 300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669280" y="2386584"/>
            <a:ext cx="54864" cy="694944"/>
          </a:xfrm>
          <a:prstGeom prst="rect">
            <a:avLst/>
          </a:prstGeom>
          <a:solidFill>
            <a:srgbClr val="C0552A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70448" y="2395728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552A"/>
                </a:solidFill>
              </a:rPr>
              <a:t>Avg Precision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870448" y="262432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D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0.9902 → 0.9900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516368" y="26243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0552A"/>
                </a:solidFill>
              </a:rPr>
              <a:t>negligible loss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5669280" y="3291840"/>
            <a:ext cx="3017520" cy="804672"/>
          </a:xfrm>
          <a:prstGeom prst="roundRect">
            <a:avLst>
              <a:gd name="adj" fmla="val 13636"/>
            </a:avLst>
          </a:prstGeom>
          <a:solidFill>
            <a:srgbClr val="EDE5D8"/>
          </a:solidFill>
          <a:ln w="12700">
            <a:solidFill>
              <a:srgbClr val="C8B89A"/>
            </a:solidFill>
            <a:prstDash val="solid"/>
          </a:ln>
          <a:effectLst>
            <a:outerShdw sx="100000" sy="100000" kx="0" ky="0" algn="bl" rotWithShape="0" blurRad="152400" dist="38100" dir="8100000">
              <a:srgbClr val="8A7060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687568" y="3291840"/>
            <a:ext cx="2980944" cy="36576"/>
          </a:xfrm>
          <a:prstGeom prst="roundRect">
            <a:avLst>
              <a:gd name="adj" fmla="val 300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669280" y="3346704"/>
            <a:ext cx="54864" cy="694944"/>
          </a:xfrm>
          <a:prstGeom prst="rect">
            <a:avLst/>
          </a:prstGeom>
          <a:solidFill>
            <a:srgbClr val="8FAF6A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70448" y="3355848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FAF6A"/>
                </a:solidFill>
              </a:rPr>
              <a:t>Brier Score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870448" y="358444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D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0.0142 → 0.0119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7516368" y="35844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FAF6A"/>
                </a:solidFill>
              </a:rPr>
              <a:t>−16% improvement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669280" y="4343400"/>
            <a:ext cx="3017520" cy="685800"/>
          </a:xfrm>
          <a:prstGeom prst="roundRect">
            <a:avLst>
              <a:gd name="adj" fmla="val 16000"/>
            </a:avLst>
          </a:prstGeom>
          <a:solidFill>
            <a:srgbClr val="EDE5D8"/>
          </a:solidFill>
          <a:ln w="12700">
            <a:solidFill>
              <a:srgbClr val="C8B89A"/>
            </a:solidFill>
            <a:prstDash val="solid"/>
          </a:ln>
          <a:effectLst>
            <a:outerShdw sx="100000" sy="100000" kx="0" ky="0" algn="bl" rotWithShape="0" blurRad="152400" dist="38100" dir="8100000">
              <a:srgbClr val="8A7060">
                <a:alpha val="1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5687568" y="4343400"/>
            <a:ext cx="2980944" cy="36576"/>
          </a:xfrm>
          <a:prstGeom prst="roundRect">
            <a:avLst>
              <a:gd name="adj" fmla="val 300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669280" y="4398264"/>
            <a:ext cx="54864" cy="576072"/>
          </a:xfrm>
          <a:prstGeom prst="rect">
            <a:avLst/>
          </a:prstGeom>
          <a:solidFill>
            <a:srgbClr val="D4A86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852160" y="4407408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4535"/>
                </a:solidFill>
              </a:rPr>
              <a:t>A predicted risk of 0.80 now means ~80% probability of attrition — not just a ranking.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C0552A">
              <a:alpha val="4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2743200" cy="2743200"/>
          </a:xfrm>
          <a:prstGeom prst="ellipse">
            <a:avLst/>
          </a:prstGeom>
          <a:solidFill>
            <a:srgbClr val="A8784A">
              <a:alpha val="4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64592"/>
            <a:ext cx="2011680" cy="201168"/>
          </a:xfrm>
          <a:prstGeom prst="roundRect">
            <a:avLst>
              <a:gd name="adj" fmla="val 27273"/>
            </a:avLst>
          </a:prstGeom>
          <a:solidFill>
            <a:srgbClr val="A8784A">
              <a:alpha val="20000"/>
            </a:srgbClr>
          </a:solidFill>
          <a:ln w="6350">
            <a:solidFill>
              <a:srgbClr val="A878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A8784A"/>
                </a:solidFill>
              </a:rPr>
              <a:t>02 / DATA ANALYSIS &amp; ML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43891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0241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7060"/>
                </a:solidFill>
              </a:rPr>
              <a:t>Permutation importance (ROC-AUC drop, 10 repeats) on held-out test set.</a:t>
            </a:r>
            <a:endParaRPr lang="en-US" sz="10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1325880"/>
          <a:ext cx="54864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6126480" y="1325880"/>
            <a:ext cx="2560320" cy="3291840"/>
          </a:xfrm>
          <a:prstGeom prst="roundRect">
            <a:avLst>
              <a:gd name="adj" fmla="val 4286"/>
            </a:avLst>
          </a:prstGeom>
          <a:solidFill>
            <a:srgbClr val="EDE5D8"/>
          </a:solidFill>
          <a:ln w="12700">
            <a:solidFill>
              <a:srgbClr val="C8B89A"/>
            </a:solidFill>
            <a:prstDash val="solid"/>
          </a:ln>
          <a:effectLst>
            <a:outerShdw sx="100000" sy="100000" kx="0" ky="0" algn="bl" rotWithShape="0" blurRad="152400" dist="38100" dir="8100000">
              <a:srgbClr val="8A706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144768" y="1325880"/>
            <a:ext cx="2523744" cy="36576"/>
          </a:xfrm>
          <a:prstGeom prst="roundRect">
            <a:avLst>
              <a:gd name="adj" fmla="val 300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126480" y="1380744"/>
            <a:ext cx="54864" cy="3182112"/>
          </a:xfrm>
          <a:prstGeom prst="rect">
            <a:avLst/>
          </a:prstGeom>
          <a:solidFill>
            <a:srgbClr val="C0552A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09360" y="14630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552A"/>
                </a:solidFill>
              </a:rPr>
              <a:t>Takeaways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63640" y="1874520"/>
            <a:ext cx="2286000" cy="548640"/>
          </a:xfrm>
          <a:prstGeom prst="roundRect">
            <a:avLst>
              <a:gd name="adj" fmla="val 20000"/>
            </a:avLst>
          </a:prstGeom>
          <a:solidFill>
            <a:srgbClr val="EDE5D8"/>
          </a:solidFill>
          <a:ln w="12700">
            <a:solidFill>
              <a:srgbClr val="C8B89A"/>
            </a:solidFill>
            <a:prstDash val="solid"/>
          </a:ln>
          <a:effectLst>
            <a:outerShdw sx="100000" sy="100000" kx="0" ky="0" algn="bl" rotWithShape="0" blurRad="152400" dist="38100" dir="8100000">
              <a:srgbClr val="8A706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81928" y="1874520"/>
            <a:ext cx="2249424" cy="36576"/>
          </a:xfrm>
          <a:prstGeom prst="roundRect">
            <a:avLst>
              <a:gd name="adj" fmla="val 300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63640" y="1929384"/>
            <a:ext cx="54864" cy="438912"/>
          </a:xfrm>
          <a:prstGeom prst="rect">
            <a:avLst/>
          </a:prstGeom>
          <a:solidFill>
            <a:srgbClr val="C0552A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46520" y="1938528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552A"/>
                </a:solidFill>
              </a:rPr>
              <a:t>Satisfaction dominates (~20pp)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263640" y="2560320"/>
            <a:ext cx="2286000" cy="548640"/>
          </a:xfrm>
          <a:prstGeom prst="roundRect">
            <a:avLst>
              <a:gd name="adj" fmla="val 20000"/>
            </a:avLst>
          </a:prstGeom>
          <a:solidFill>
            <a:srgbClr val="EDE5D8"/>
          </a:solidFill>
          <a:ln w="12700">
            <a:solidFill>
              <a:srgbClr val="C8B89A"/>
            </a:solidFill>
            <a:prstDash val="solid"/>
          </a:ln>
          <a:effectLst>
            <a:outerShdw sx="100000" sy="100000" kx="0" ky="0" algn="bl" rotWithShape="0" blurRad="152400" dist="38100" dir="8100000">
              <a:srgbClr val="8A706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281928" y="2560320"/>
            <a:ext cx="2249424" cy="36576"/>
          </a:xfrm>
          <a:prstGeom prst="roundRect">
            <a:avLst>
              <a:gd name="adj" fmla="val 300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263640" y="2615184"/>
            <a:ext cx="54864" cy="438912"/>
          </a:xfrm>
          <a:prstGeom prst="rect">
            <a:avLst/>
          </a:prstGeom>
          <a:solidFill>
            <a:srgbClr val="A8784A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46520" y="2624328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784A"/>
                </a:solidFill>
              </a:rPr>
              <a:t>Structural features matter next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263640" y="3246120"/>
            <a:ext cx="2286000" cy="548640"/>
          </a:xfrm>
          <a:prstGeom prst="roundRect">
            <a:avLst>
              <a:gd name="adj" fmla="val 20000"/>
            </a:avLst>
          </a:prstGeom>
          <a:solidFill>
            <a:srgbClr val="EDE5D8"/>
          </a:solidFill>
          <a:ln w="12700">
            <a:solidFill>
              <a:srgbClr val="C8B89A"/>
            </a:solidFill>
            <a:prstDash val="solid"/>
          </a:ln>
          <a:effectLst>
            <a:outerShdw sx="100000" sy="100000" kx="0" ky="0" algn="bl" rotWithShape="0" blurRad="152400" dist="38100" dir="8100000">
              <a:srgbClr val="8A7060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281928" y="3246120"/>
            <a:ext cx="2249424" cy="36576"/>
          </a:xfrm>
          <a:prstGeom prst="roundRect">
            <a:avLst>
              <a:gd name="adj" fmla="val 300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263640" y="3300984"/>
            <a:ext cx="54864" cy="438912"/>
          </a:xfrm>
          <a:prstGeom prst="rect">
            <a:avLst/>
          </a:prstGeom>
          <a:solidFill>
            <a:srgbClr val="5A4535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46520" y="3310128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4535"/>
                </a:solidFill>
              </a:rPr>
              <a:t>HR process features &lt; 1%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263640" y="3931920"/>
            <a:ext cx="2286000" cy="548640"/>
          </a:xfrm>
          <a:prstGeom prst="roundRect">
            <a:avLst>
              <a:gd name="adj" fmla="val 20000"/>
            </a:avLst>
          </a:prstGeom>
          <a:solidFill>
            <a:srgbClr val="EDE5D8"/>
          </a:solidFill>
          <a:ln w="12700">
            <a:solidFill>
              <a:srgbClr val="C8B89A"/>
            </a:solidFill>
            <a:prstDash val="solid"/>
          </a:ln>
          <a:effectLst>
            <a:outerShdw sx="100000" sy="100000" kx="0" ky="0" algn="bl" rotWithShape="0" blurRad="152400" dist="38100" dir="8100000">
              <a:srgbClr val="8A7060">
                <a:alpha val="1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281928" y="3931920"/>
            <a:ext cx="2249424" cy="36576"/>
          </a:xfrm>
          <a:prstGeom prst="roundRect">
            <a:avLst>
              <a:gd name="adj" fmla="val 300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263640" y="3986784"/>
            <a:ext cx="54864" cy="438912"/>
          </a:xfrm>
          <a:prstGeom prst="rect">
            <a:avLst/>
          </a:prstGeom>
          <a:solidFill>
            <a:srgbClr val="D4A86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446520" y="3995928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A860"/>
                </a:solidFill>
              </a:rPr>
              <a:t>Linear models would underfit these interactions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C0552A">
              <a:alpha val="4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2743200" cy="2743200"/>
          </a:xfrm>
          <a:prstGeom prst="ellipse">
            <a:avLst/>
          </a:prstGeom>
          <a:solidFill>
            <a:srgbClr val="A8784A">
              <a:alpha val="4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64592"/>
            <a:ext cx="2011680" cy="201168"/>
          </a:xfrm>
          <a:prstGeom prst="roundRect">
            <a:avLst>
              <a:gd name="adj" fmla="val 27273"/>
            </a:avLst>
          </a:prstGeom>
          <a:solidFill>
            <a:srgbClr val="D4855A">
              <a:alpha val="20000"/>
            </a:srgbClr>
          </a:solidFill>
          <a:ln w="6350">
            <a:solidFill>
              <a:srgbClr val="D485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D4855A"/>
                </a:solidFill>
              </a:rPr>
              <a:t>03 / LLM INTEGRATION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43891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Architecture Overview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0241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7060"/>
                </a:solidFill>
              </a:rPr>
              <a:t>Two specialized agents built with PydanticAI, served via Groq inference.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2651760" cy="2148840"/>
          </a:xfrm>
          <a:prstGeom prst="roundRect">
            <a:avLst>
              <a:gd name="adj" fmla="val 5106"/>
            </a:avLst>
          </a:prstGeom>
          <a:solidFill>
            <a:srgbClr val="EDE5D8"/>
          </a:solidFill>
          <a:ln w="12700">
            <a:solidFill>
              <a:srgbClr val="C8B89A"/>
            </a:solidFill>
            <a:prstDash val="solid"/>
          </a:ln>
          <a:effectLst>
            <a:outerShdw sx="100000" sy="100000" kx="0" ky="0" algn="bl" rotWithShape="0" blurRad="152400" dist="38100" dir="8100000">
              <a:srgbClr val="8A706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" y="1417320"/>
            <a:ext cx="2615184" cy="36576"/>
          </a:xfrm>
          <a:prstGeom prst="roundRect">
            <a:avLst>
              <a:gd name="adj" fmla="val 300000"/>
            </a:avLst>
          </a:prstGeom>
          <a:solidFill>
            <a:srgbClr val="C0552A">
              <a:alpha val="6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2064" y="1417320"/>
            <a:ext cx="2542032" cy="54864"/>
          </a:xfrm>
          <a:prstGeom prst="rect">
            <a:avLst/>
          </a:prstGeom>
          <a:solidFill>
            <a:srgbClr val="D4A86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554480"/>
            <a:ext cx="502920" cy="5029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48640" y="21488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Guard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251460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meta-llama/llama-prompt-guard-2-86m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66928" y="2788920"/>
            <a:ext cx="24323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4535"/>
                </a:solidFill>
              </a:rPr>
              <a:t>Injection detection — runs before every user message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355848" y="1417320"/>
            <a:ext cx="2651760" cy="2148840"/>
          </a:xfrm>
          <a:prstGeom prst="roundRect">
            <a:avLst>
              <a:gd name="adj" fmla="val 5106"/>
            </a:avLst>
          </a:prstGeom>
          <a:solidFill>
            <a:srgbClr val="EDE5D8"/>
          </a:solidFill>
          <a:ln w="12700">
            <a:solidFill>
              <a:srgbClr val="C8B89A"/>
            </a:solidFill>
            <a:prstDash val="solid"/>
          </a:ln>
          <a:effectLst>
            <a:outerShdw sx="100000" sy="100000" kx="0" ky="0" algn="bl" rotWithShape="0" blurRad="152400" dist="38100" dir="8100000">
              <a:srgbClr val="8A706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374136" y="1417320"/>
            <a:ext cx="2615184" cy="36576"/>
          </a:xfrm>
          <a:prstGeom prst="roundRect">
            <a:avLst>
              <a:gd name="adj" fmla="val 300000"/>
            </a:avLst>
          </a:prstGeom>
          <a:solidFill>
            <a:srgbClr val="C0552A">
              <a:alpha val="6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410712" y="1417320"/>
            <a:ext cx="2542032" cy="54864"/>
          </a:xfrm>
          <a:prstGeom prst="rect">
            <a:avLst/>
          </a:prstGeom>
          <a:solidFill>
            <a:srgbClr val="C0552A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408" y="1554480"/>
            <a:ext cx="502920" cy="5029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447288" y="21488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5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Chat Agent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3447288" y="251460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groq: openai/gpt-oss-120b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3465576" y="2788920"/>
            <a:ext cx="24323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4535"/>
                </a:solidFill>
              </a:rPr>
              <a:t>Read-only SQL analyst — schema-injected system prompt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6254496" y="1417320"/>
            <a:ext cx="2651760" cy="2148840"/>
          </a:xfrm>
          <a:prstGeom prst="roundRect">
            <a:avLst>
              <a:gd name="adj" fmla="val 5106"/>
            </a:avLst>
          </a:prstGeom>
          <a:solidFill>
            <a:srgbClr val="EDE5D8"/>
          </a:solidFill>
          <a:ln w="12700">
            <a:solidFill>
              <a:srgbClr val="C8B89A"/>
            </a:solidFill>
            <a:prstDash val="solid"/>
          </a:ln>
          <a:effectLst>
            <a:outerShdw sx="100000" sy="100000" kx="0" ky="0" algn="bl" rotWithShape="0" blurRad="152400" dist="38100" dir="8100000">
              <a:srgbClr val="8A7060">
                <a:alpha val="1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272784" y="1417320"/>
            <a:ext cx="2615184" cy="36576"/>
          </a:xfrm>
          <a:prstGeom prst="roundRect">
            <a:avLst>
              <a:gd name="adj" fmla="val 300000"/>
            </a:avLst>
          </a:prstGeom>
          <a:solidFill>
            <a:srgbClr val="C0552A">
              <a:alpha val="6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309360" y="1417320"/>
            <a:ext cx="2542032" cy="54864"/>
          </a:xfrm>
          <a:prstGeom prst="rect">
            <a:avLst/>
          </a:prstGeom>
          <a:solidFill>
            <a:srgbClr val="A8784A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6056" y="1554480"/>
            <a:ext cx="502920" cy="50292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345936" y="21488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7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Classifier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6345936" y="251460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groq: llama-3.1-8b-instant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6364224" y="2788920"/>
            <a:ext cx="24323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4535"/>
                </a:solidFill>
              </a:rPr>
              <a:t>Structured output — extracts topics + summary from tickets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457200" y="3703320"/>
            <a:ext cx="8229600" cy="1005840"/>
          </a:xfrm>
          <a:prstGeom prst="roundRect">
            <a:avLst>
              <a:gd name="adj" fmla="val 10909"/>
            </a:avLst>
          </a:prstGeom>
          <a:solidFill>
            <a:srgbClr val="EDE5D8"/>
          </a:solidFill>
          <a:ln w="12700">
            <a:solidFill>
              <a:srgbClr val="C8B89A"/>
            </a:solidFill>
            <a:prstDash val="solid"/>
          </a:ln>
          <a:effectLst>
            <a:outerShdw sx="100000" sy="100000" kx="0" ky="0" algn="bl" rotWithShape="0" blurRad="152400" dist="38100" dir="8100000">
              <a:srgbClr val="8A7060">
                <a:alpha val="18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475488" y="3703320"/>
            <a:ext cx="8193024" cy="36576"/>
          </a:xfrm>
          <a:prstGeom prst="roundRect">
            <a:avLst>
              <a:gd name="adj" fmla="val 300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512064" y="3703320"/>
            <a:ext cx="8119872" cy="54864"/>
          </a:xfrm>
          <a:prstGeom prst="rect">
            <a:avLst/>
          </a:prstGeom>
          <a:solidFill>
            <a:srgbClr val="D4855A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640080" y="38221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855A"/>
                </a:solidFill>
              </a:rPr>
              <a:t>Inference Provider: Groq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3017520" y="3822192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4535"/>
                </a:solidFill>
              </a:rPr>
              <a:t>Low-latency LLM API — open-source and proprietary models  ·  Key: GROQ_API_KEY in backend/.env  ·  PydanticAI abstracts the provider — swap model string to switch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C0552A">
              <a:alpha val="4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2743200" cy="2743200"/>
          </a:xfrm>
          <a:prstGeom prst="ellipse">
            <a:avLst/>
          </a:prstGeom>
          <a:solidFill>
            <a:srgbClr val="A8784A">
              <a:alpha val="4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64592"/>
            <a:ext cx="2011680" cy="201168"/>
          </a:xfrm>
          <a:prstGeom prst="roundRect">
            <a:avLst>
              <a:gd name="adj" fmla="val 27273"/>
            </a:avLst>
          </a:prstGeom>
          <a:solidFill>
            <a:srgbClr val="D4855A">
              <a:alpha val="20000"/>
            </a:srgbClr>
          </a:solidFill>
          <a:ln w="6350">
            <a:solidFill>
              <a:srgbClr val="D485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D4855A"/>
                </a:solidFill>
              </a:rPr>
              <a:t>03 / LLM INTEGRATION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43891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Chat Agent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4023360" cy="3566160"/>
          </a:xfrm>
          <a:prstGeom prst="roundRect">
            <a:avLst>
              <a:gd name="adj" fmla="val 3077"/>
            </a:avLst>
          </a:prstGeom>
          <a:solidFill>
            <a:srgbClr val="EDE5D8"/>
          </a:solidFill>
          <a:ln w="12700">
            <a:solidFill>
              <a:srgbClr val="C8B89A"/>
            </a:solidFill>
            <a:prstDash val="solid"/>
          </a:ln>
          <a:effectLst>
            <a:outerShdw sx="100000" sy="100000" kx="0" ky="0" algn="bl" rotWithShape="0" blurRad="152400" dist="38100" dir="8100000">
              <a:srgbClr val="8A706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" y="1143000"/>
            <a:ext cx="3986784" cy="36576"/>
          </a:xfrm>
          <a:prstGeom prst="roundRect">
            <a:avLst>
              <a:gd name="adj" fmla="val 300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97864"/>
            <a:ext cx="54864" cy="3456432"/>
          </a:xfrm>
          <a:prstGeom prst="rect">
            <a:avLst/>
          </a:prstGeom>
          <a:solidFill>
            <a:srgbClr val="C0552A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26187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552A"/>
                </a:solidFill>
              </a:rPr>
              <a:t>Design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1627632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5A4535"/>
                </a:solidFill>
              </a:rPr>
              <a:t>Model: groq:openai/gpt-oss-120b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5A4535"/>
                </a:solidFill>
              </a:rPr>
              <a:t>Framework: PydanticAI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5A4535"/>
                </a:solidFill>
              </a:rPr>
              <a:t>Tool: query_db() — SELECT only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5A4535"/>
                </a:solidFill>
              </a:rPr>
              <a:t>Result limit: 50 rows (auto-appended)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5A4535"/>
                </a:solidFill>
              </a:rPr>
              <a:t>System prompt injects full DB schema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5A4535"/>
                </a:solidFill>
              </a:rPr>
              <a:t>Answers HR questions only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5A4535"/>
                </a:solidFill>
              </a:rPr>
              <a:t>Returns string response to client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114300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EDE5D8"/>
          </a:solidFill>
          <a:ln w="12700">
            <a:solidFill>
              <a:srgbClr val="C8B89A"/>
            </a:solidFill>
            <a:prstDash val="solid"/>
          </a:ln>
          <a:effectLst>
            <a:outerShdw sx="100000" sy="100000" kx="0" ky="0" algn="bl" rotWithShape="0" blurRad="152400" dist="38100" dir="8100000">
              <a:srgbClr val="8A706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81728" y="1143000"/>
            <a:ext cx="3986784" cy="36576"/>
          </a:xfrm>
          <a:prstGeom prst="roundRect">
            <a:avLst>
              <a:gd name="adj" fmla="val 300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197864"/>
            <a:ext cx="54864" cy="1444752"/>
          </a:xfrm>
          <a:prstGeom prst="rect">
            <a:avLst/>
          </a:prstGeom>
          <a:solidFill>
            <a:srgbClr val="D4A86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2618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60"/>
                </a:solidFill>
              </a:rPr>
              <a:t>Safety Guard — Blocked SQL keywords: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1572768"/>
            <a:ext cx="1097280" cy="201168"/>
          </a:xfrm>
          <a:prstGeom prst="roundRect">
            <a:avLst>
              <a:gd name="adj" fmla="val 22727"/>
            </a:avLst>
          </a:prstGeom>
          <a:solidFill>
            <a:srgbClr val="D4A860">
              <a:alpha val="13000"/>
            </a:srgbClr>
          </a:solidFill>
          <a:ln w="6350">
            <a:solidFill>
              <a:srgbClr val="D4A8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5727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4A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080760" y="1572768"/>
            <a:ext cx="1097280" cy="201168"/>
          </a:xfrm>
          <a:prstGeom prst="roundRect">
            <a:avLst>
              <a:gd name="adj" fmla="val 22727"/>
            </a:avLst>
          </a:prstGeom>
          <a:solidFill>
            <a:srgbClr val="D4A860">
              <a:alpha val="13000"/>
            </a:srgbClr>
          </a:solidFill>
          <a:ln w="6350">
            <a:solidFill>
              <a:srgbClr val="D4A8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15727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4A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315200" y="1572768"/>
            <a:ext cx="1097280" cy="201168"/>
          </a:xfrm>
          <a:prstGeom prst="roundRect">
            <a:avLst>
              <a:gd name="adj" fmla="val 22727"/>
            </a:avLst>
          </a:prstGeom>
          <a:solidFill>
            <a:srgbClr val="D4A860">
              <a:alpha val="13000"/>
            </a:srgbClr>
          </a:solidFill>
          <a:ln w="6350">
            <a:solidFill>
              <a:srgbClr val="D4A8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15727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4A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846320" y="1847088"/>
            <a:ext cx="1097280" cy="201168"/>
          </a:xfrm>
          <a:prstGeom prst="roundRect">
            <a:avLst>
              <a:gd name="adj" fmla="val 22727"/>
            </a:avLst>
          </a:prstGeom>
          <a:solidFill>
            <a:srgbClr val="D4A860">
              <a:alpha val="13000"/>
            </a:srgbClr>
          </a:solidFill>
          <a:ln w="6350">
            <a:solidFill>
              <a:srgbClr val="D4A8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84708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4A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080760" y="1847088"/>
            <a:ext cx="1097280" cy="201168"/>
          </a:xfrm>
          <a:prstGeom prst="roundRect">
            <a:avLst>
              <a:gd name="adj" fmla="val 22727"/>
            </a:avLst>
          </a:prstGeom>
          <a:solidFill>
            <a:srgbClr val="D4A860">
              <a:alpha val="13000"/>
            </a:srgbClr>
          </a:solidFill>
          <a:ln w="6350">
            <a:solidFill>
              <a:srgbClr val="D4A8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80760" y="184708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4A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315200" y="1847088"/>
            <a:ext cx="1097280" cy="201168"/>
          </a:xfrm>
          <a:prstGeom prst="roundRect">
            <a:avLst>
              <a:gd name="adj" fmla="val 22727"/>
            </a:avLst>
          </a:prstGeom>
          <a:solidFill>
            <a:srgbClr val="D4A860">
              <a:alpha val="13000"/>
            </a:srgbClr>
          </a:solidFill>
          <a:ln w="6350">
            <a:solidFill>
              <a:srgbClr val="D4A8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0" y="184708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4A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846320" y="2121408"/>
            <a:ext cx="1097280" cy="201168"/>
          </a:xfrm>
          <a:prstGeom prst="roundRect">
            <a:avLst>
              <a:gd name="adj" fmla="val 22727"/>
            </a:avLst>
          </a:prstGeom>
          <a:solidFill>
            <a:srgbClr val="D4A860">
              <a:alpha val="13000"/>
            </a:srgbClr>
          </a:solidFill>
          <a:ln w="6350">
            <a:solidFill>
              <a:srgbClr val="D4A8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21214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4A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TRUNCATE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080760" y="2121408"/>
            <a:ext cx="1097280" cy="201168"/>
          </a:xfrm>
          <a:prstGeom prst="roundRect">
            <a:avLst>
              <a:gd name="adj" fmla="val 22727"/>
            </a:avLst>
          </a:prstGeom>
          <a:solidFill>
            <a:srgbClr val="D4A860">
              <a:alpha val="13000"/>
            </a:srgbClr>
          </a:solidFill>
          <a:ln w="6350">
            <a:solidFill>
              <a:srgbClr val="D4A8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80760" y="21214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4A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7315200" y="2121408"/>
            <a:ext cx="1097280" cy="201168"/>
          </a:xfrm>
          <a:prstGeom prst="roundRect">
            <a:avLst>
              <a:gd name="adj" fmla="val 22727"/>
            </a:avLst>
          </a:prstGeom>
          <a:solidFill>
            <a:srgbClr val="D4A860">
              <a:alpha val="13000"/>
            </a:srgbClr>
          </a:solidFill>
          <a:ln w="6350">
            <a:solidFill>
              <a:srgbClr val="D4A8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0" y="21214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4A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663440" y="2834640"/>
            <a:ext cx="4023360" cy="1874520"/>
          </a:xfrm>
          <a:prstGeom prst="roundRect">
            <a:avLst>
              <a:gd name="adj" fmla="val 5854"/>
            </a:avLst>
          </a:prstGeom>
          <a:solidFill>
            <a:srgbClr val="EDE5D8"/>
          </a:solidFill>
          <a:ln w="12700">
            <a:solidFill>
              <a:srgbClr val="C8B89A"/>
            </a:solidFill>
            <a:prstDash val="solid"/>
          </a:ln>
          <a:effectLst>
            <a:outerShdw sx="100000" sy="100000" kx="0" ky="0" algn="bl" rotWithShape="0" blurRad="152400" dist="38100" dir="8100000">
              <a:srgbClr val="8A706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81728" y="2834640"/>
            <a:ext cx="3986784" cy="36576"/>
          </a:xfrm>
          <a:prstGeom prst="roundRect">
            <a:avLst>
              <a:gd name="adj" fmla="val 300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63440" y="2889504"/>
            <a:ext cx="54864" cy="1764792"/>
          </a:xfrm>
          <a:prstGeom prst="rect">
            <a:avLst/>
          </a:prstGeom>
          <a:solidFill>
            <a:srgbClr val="A8784A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295351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784A"/>
                </a:solidFill>
              </a:rPr>
              <a:t>Schema exposed to agent: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46320" y="3273552"/>
            <a:ext cx="1371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7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63640" y="3273552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4535"/>
                </a:solidFill>
              </a:rPr>
              <a:t>(identity, equipment)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46320" y="3575304"/>
            <a:ext cx="1371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7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employee_info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263640" y="3575304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4535"/>
                </a:solidFill>
              </a:rPr>
              <a:t>(employment + AttritionRisk)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46320" y="3877056"/>
            <a:ext cx="1371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7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it_task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263640" y="3877056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4535"/>
                </a:solidFill>
              </a:rPr>
              <a:t>(tasks linked to employees)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846320" y="4178808"/>
            <a:ext cx="1371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7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263640" y="4178808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4535"/>
                </a:solidFill>
              </a:rPr>
              <a:t>(support requests + LLM results)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663440" y="457200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Endpoint: POST /hr-hub/api/v0.1/agent/chat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C0552A">
              <a:alpha val="4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2743200" cy="2743200"/>
          </a:xfrm>
          <a:prstGeom prst="ellipse">
            <a:avLst/>
          </a:prstGeom>
          <a:solidFill>
            <a:srgbClr val="A8784A">
              <a:alpha val="4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64592"/>
            <a:ext cx="2011680" cy="201168"/>
          </a:xfrm>
          <a:prstGeom prst="roundRect">
            <a:avLst>
              <a:gd name="adj" fmla="val 27273"/>
            </a:avLst>
          </a:prstGeom>
          <a:solidFill>
            <a:srgbClr val="D4855A">
              <a:alpha val="20000"/>
            </a:srgbClr>
          </a:solidFill>
          <a:ln w="6350">
            <a:solidFill>
              <a:srgbClr val="D485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D4855A"/>
                </a:solidFill>
              </a:rPr>
              <a:t>03 / LLM INTEGRATION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43891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Classifier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3840480" cy="1828800"/>
          </a:xfrm>
          <a:prstGeom prst="roundRect">
            <a:avLst>
              <a:gd name="adj" fmla="val 6000"/>
            </a:avLst>
          </a:prstGeom>
          <a:solidFill>
            <a:srgbClr val="EDE5D8"/>
          </a:solidFill>
          <a:ln w="12700">
            <a:solidFill>
              <a:srgbClr val="C8B89A"/>
            </a:solidFill>
            <a:prstDash val="solid"/>
          </a:ln>
          <a:effectLst>
            <a:outerShdw sx="100000" sy="100000" kx="0" ky="0" algn="bl" rotWithShape="0" blurRad="152400" dist="38100" dir="8100000">
              <a:srgbClr val="8A706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" y="1143000"/>
            <a:ext cx="3803904" cy="36576"/>
          </a:xfrm>
          <a:prstGeom prst="roundRect">
            <a:avLst>
              <a:gd name="adj" fmla="val 300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97864"/>
            <a:ext cx="54864" cy="1719072"/>
          </a:xfrm>
          <a:prstGeom prst="rect">
            <a:avLst/>
          </a:prstGeom>
          <a:solidFill>
            <a:srgbClr val="A8784A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26187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784A"/>
                </a:solidFill>
              </a:rPr>
              <a:t>Model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" y="1600200"/>
            <a:ext cx="3474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5A4535"/>
                </a:solidFill>
              </a:rPr>
              <a:t>groq:llama-3.1-8b-instant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5A4535"/>
                </a:solidFill>
              </a:rPr>
              <a:t>8B parameter open-source model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5A4535"/>
                </a:solidFill>
              </a:rPr>
              <a:t>Optimized for speed + structured output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5A4535"/>
                </a:solidFill>
              </a:rPr>
              <a:t>PydanticAI enforces output schema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3840480" cy="1645920"/>
          </a:xfrm>
          <a:prstGeom prst="roundRect">
            <a:avLst>
              <a:gd name="adj" fmla="val 6667"/>
            </a:avLst>
          </a:prstGeom>
          <a:solidFill>
            <a:srgbClr val="EDE5D8"/>
          </a:solidFill>
          <a:ln w="12700">
            <a:solidFill>
              <a:srgbClr val="C8B89A"/>
            </a:solidFill>
            <a:prstDash val="solid"/>
          </a:ln>
          <a:effectLst>
            <a:outerShdw sx="100000" sy="100000" kx="0" ky="0" algn="bl" rotWithShape="0" blurRad="152400" dist="38100" dir="8100000">
              <a:srgbClr val="8A706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" y="3063240"/>
            <a:ext cx="3803904" cy="36576"/>
          </a:xfrm>
          <a:prstGeom prst="roundRect">
            <a:avLst>
              <a:gd name="adj" fmla="val 300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118104"/>
            <a:ext cx="54864" cy="1536192"/>
          </a:xfrm>
          <a:prstGeom prst="rect">
            <a:avLst/>
          </a:prstGeom>
          <a:solidFill>
            <a:srgbClr val="D4855A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18211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855A"/>
                </a:solidFill>
              </a:rPr>
              <a:t>Output Schema: TicketClassification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3566160" cy="1051560"/>
          </a:xfrm>
          <a:prstGeom prst="rect">
            <a:avLst/>
          </a:prstGeom>
          <a:solidFill>
            <a:srgbClr val="E0D5C2"/>
          </a:solidFill>
          <a:ln w="6350">
            <a:solidFill>
              <a:srgbClr val="C8B8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547872"/>
            <a:ext cx="333756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7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</a:t>
            </a:r>
            <a:pPr indent="0" marL="0">
              <a:buNone/>
            </a:pPr>
            <a:r>
              <a:rPr lang="en-US" sz="900" b="1" dirty="0">
                <a:solidFill>
                  <a:srgbClr val="D48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TicketClassification</a:t>
            </a:r>
            <a:pPr indent="0" marL="0">
              <a:buNone/>
            </a:pPr>
            <a:r>
              <a:rPr lang="en-US" sz="900" dirty="0">
                <a:solidFill>
                  <a:srgbClr val="3D2D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(BaseModel):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5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topics: </a:t>
            </a:r>
            <a:pPr indent="0" marL="0">
              <a:buNone/>
            </a:pPr>
            <a:r>
              <a:rPr lang="en-US" sz="900" dirty="0">
                <a:solidFill>
                  <a:srgbClr val="D4A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list[str]</a:t>
            </a:r>
            <a:pPr indent="0" marL="0">
              <a:buNone/>
            </a:pPr>
            <a:r>
              <a:rPr lang="en-US" sz="900" dirty="0">
                <a:solidFill>
                  <a:srgbClr val="8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max 3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55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summary: </a:t>
            </a:r>
            <a:pPr indent="0" marL="0">
              <a:buNone/>
            </a:pPr>
            <a:r>
              <a:rPr lang="en-US" sz="900" dirty="0">
                <a:solidFill>
                  <a:srgbClr val="D4A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pPr indent="0" marL="0">
              <a:buNone/>
            </a:pPr>
            <a:r>
              <a:rPr lang="en-US" sz="900" dirty="0">
                <a:solidFill>
                  <a:srgbClr val="8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one sentence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480560" y="1143000"/>
            <a:ext cx="4206240" cy="3566160"/>
          </a:xfrm>
          <a:prstGeom prst="roundRect">
            <a:avLst>
              <a:gd name="adj" fmla="val 3077"/>
            </a:avLst>
          </a:prstGeom>
          <a:solidFill>
            <a:srgbClr val="EDE5D8"/>
          </a:solidFill>
          <a:ln w="12700">
            <a:solidFill>
              <a:srgbClr val="C8B89A"/>
            </a:solidFill>
            <a:prstDash val="solid"/>
          </a:ln>
          <a:effectLst>
            <a:outerShdw sx="100000" sy="100000" kx="0" ky="0" algn="bl" rotWithShape="0" blurRad="152400" dist="38100" dir="8100000">
              <a:srgbClr val="8A706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498848" y="1143000"/>
            <a:ext cx="4169664" cy="36576"/>
          </a:xfrm>
          <a:prstGeom prst="roundRect">
            <a:avLst>
              <a:gd name="adj" fmla="val 300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35424" y="1143000"/>
            <a:ext cx="4096512" cy="54864"/>
          </a:xfrm>
          <a:prstGeom prst="rect">
            <a:avLst/>
          </a:prstGeom>
          <a:solidFill>
            <a:srgbClr val="A8784A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12618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784A"/>
                </a:solidFill>
              </a:rPr>
              <a:t>Classification Flow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1664208"/>
            <a:ext cx="274320" cy="274320"/>
          </a:xfrm>
          <a:prstGeom prst="ellipse">
            <a:avLst/>
          </a:prstGeom>
          <a:solidFill>
            <a:srgbClr val="A8784A">
              <a:alpha val="30000"/>
            </a:srgbClr>
          </a:solidFill>
          <a:ln w="6350">
            <a:solidFill>
              <a:srgbClr val="A878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664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A1F14"/>
                </a:solidFill>
              </a:rPr>
              <a:t>1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074920" y="1664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2D1E"/>
                </a:solidFill>
              </a:rPr>
              <a:t>User submits ticket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49440" y="16916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7060"/>
                </a:solidFill>
              </a:rPr>
              <a:t>title + free text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91456" y="1938528"/>
            <a:ext cx="18288" cy="320040"/>
          </a:xfrm>
          <a:prstGeom prst="rect">
            <a:avLst/>
          </a:prstGeom>
          <a:solidFill>
            <a:srgbClr val="A8784A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2249424"/>
            <a:ext cx="274320" cy="274320"/>
          </a:xfrm>
          <a:prstGeom prst="ellipse">
            <a:avLst/>
          </a:prstGeom>
          <a:solidFill>
            <a:srgbClr val="A8784A">
              <a:alpha val="30000"/>
            </a:srgbClr>
          </a:solidFill>
          <a:ln w="6350">
            <a:solidFill>
              <a:srgbClr val="A878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22494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A1F14"/>
                </a:solidFill>
              </a:rPr>
              <a:t>2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074920" y="22494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2D1E"/>
                </a:solidFill>
              </a:rPr>
              <a:t>POST /ticketing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49440" y="2276856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7060"/>
                </a:solidFill>
              </a:rPr>
              <a:t>service layer calls classifier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791456" y="2523744"/>
            <a:ext cx="18288" cy="320040"/>
          </a:xfrm>
          <a:prstGeom prst="rect">
            <a:avLst/>
          </a:prstGeom>
          <a:solidFill>
            <a:srgbClr val="A8784A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2834640"/>
            <a:ext cx="274320" cy="274320"/>
          </a:xfrm>
          <a:prstGeom prst="ellipse">
            <a:avLst/>
          </a:prstGeom>
          <a:solidFill>
            <a:srgbClr val="A8784A">
              <a:alpha val="30000"/>
            </a:srgbClr>
          </a:solidFill>
          <a:ln w="6350">
            <a:solidFill>
              <a:srgbClr val="A878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2834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A1F14"/>
                </a:solidFill>
              </a:rPr>
              <a:t>3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074920" y="2834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2D1E"/>
                </a:solidFill>
              </a:rPr>
              <a:t>Classifier extracts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949440" y="286207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7060"/>
                </a:solidFill>
              </a:rPr>
              <a:t>topics + summary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791456" y="3108960"/>
            <a:ext cx="18288" cy="320040"/>
          </a:xfrm>
          <a:prstGeom prst="rect">
            <a:avLst/>
          </a:prstGeom>
          <a:solidFill>
            <a:srgbClr val="A8784A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63440" y="3419856"/>
            <a:ext cx="274320" cy="274320"/>
          </a:xfrm>
          <a:prstGeom prst="ellipse">
            <a:avLst/>
          </a:prstGeom>
          <a:solidFill>
            <a:srgbClr val="A8784A">
              <a:alpha val="30000"/>
            </a:srgbClr>
          </a:solidFill>
          <a:ln w="6350">
            <a:solidFill>
              <a:srgbClr val="A878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0" y="34198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A1F14"/>
                </a:solidFill>
              </a:rPr>
              <a:t>4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074920" y="341985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2D1E"/>
                </a:solidFill>
              </a:rPr>
              <a:t>Result stored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949440" y="344728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7060"/>
                </a:solidFill>
              </a:rPr>
              <a:t>in ticket.LLMResult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791456" y="3694176"/>
            <a:ext cx="18288" cy="320040"/>
          </a:xfrm>
          <a:prstGeom prst="rect">
            <a:avLst/>
          </a:prstGeom>
          <a:solidFill>
            <a:srgbClr val="A8784A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63440" y="4005072"/>
            <a:ext cx="274320" cy="274320"/>
          </a:xfrm>
          <a:prstGeom prst="ellipse">
            <a:avLst/>
          </a:prstGeom>
          <a:solidFill>
            <a:srgbClr val="A8784A">
              <a:alpha val="30000"/>
            </a:srgbClr>
          </a:solidFill>
          <a:ln w="6350">
            <a:solidFill>
              <a:srgbClr val="A878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63440" y="4005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A1F14"/>
                </a:solidFill>
              </a:rPr>
              <a:t>5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074920" y="40050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2D1E"/>
                </a:solidFill>
              </a:rPr>
              <a:t>Frontend displays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949440" y="4032504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7060"/>
                </a:solidFill>
              </a:rPr>
              <a:t>topics as pills + summary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480560" y="4590288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Endpoint: POST /hr-hub/api/v0.1/ticketing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C0552A">
              <a:alpha val="4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2743200" cy="2743200"/>
          </a:xfrm>
          <a:prstGeom prst="ellipse">
            <a:avLst/>
          </a:prstGeom>
          <a:solidFill>
            <a:srgbClr val="A8784A">
              <a:alpha val="4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64592"/>
            <a:ext cx="2011680" cy="201168"/>
          </a:xfrm>
          <a:prstGeom prst="roundRect">
            <a:avLst>
              <a:gd name="adj" fmla="val 27273"/>
            </a:avLst>
          </a:prstGeom>
          <a:solidFill>
            <a:srgbClr val="D4855A">
              <a:alpha val="20000"/>
            </a:srgbClr>
          </a:solidFill>
          <a:ln w="6350">
            <a:solidFill>
              <a:srgbClr val="D485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D4855A"/>
                </a:solidFill>
              </a:rPr>
              <a:t>03 / LLM INTEGRATION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43891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Guard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0241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4535"/>
                </a:solidFill>
              </a:rPr>
              <a:t>All user messages are screened for prompt injection before reaching the HR Chat Agent.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3840480" cy="1874520"/>
          </a:xfrm>
          <a:prstGeom prst="roundRect">
            <a:avLst>
              <a:gd name="adj" fmla="val 5854"/>
            </a:avLst>
          </a:prstGeom>
          <a:solidFill>
            <a:srgbClr val="EDE5D8"/>
          </a:solidFill>
          <a:ln w="12700">
            <a:solidFill>
              <a:srgbClr val="C8B89A"/>
            </a:solidFill>
            <a:prstDash val="solid"/>
          </a:ln>
          <a:effectLst>
            <a:outerShdw sx="100000" sy="100000" kx="0" ky="0" algn="bl" rotWithShape="0" blurRad="152400" dist="38100" dir="8100000">
              <a:srgbClr val="8A706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" y="1371600"/>
            <a:ext cx="3803904" cy="36576"/>
          </a:xfrm>
          <a:prstGeom prst="roundRect">
            <a:avLst>
              <a:gd name="adj" fmla="val 300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426464"/>
            <a:ext cx="54864" cy="1764792"/>
          </a:xfrm>
          <a:prstGeom prst="rect">
            <a:avLst/>
          </a:prstGeom>
          <a:solidFill>
            <a:srgbClr val="D4A86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49047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60"/>
                </a:solidFill>
              </a:rPr>
              <a:t>Model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" y="182880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5A4535"/>
                </a:solidFill>
              </a:rPr>
              <a:t>meta-llama/llama-prompt-guard-2-86m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5A4535"/>
                </a:solidFill>
              </a:rPr>
              <a:t>86M parameters — very fast, low overhead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5A4535"/>
                </a:solidFill>
              </a:rPr>
              <a:t>Served via Groq API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5A4535"/>
                </a:solidFill>
              </a:rPr>
              <a:t>Returns injection probability score (0 → 1)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337560"/>
            <a:ext cx="3840480" cy="1371600"/>
          </a:xfrm>
          <a:prstGeom prst="roundRect">
            <a:avLst>
              <a:gd name="adj" fmla="val 8000"/>
            </a:avLst>
          </a:prstGeom>
          <a:solidFill>
            <a:srgbClr val="EDE5D8"/>
          </a:solidFill>
          <a:ln w="12700">
            <a:solidFill>
              <a:srgbClr val="C8B89A"/>
            </a:solidFill>
            <a:prstDash val="solid"/>
          </a:ln>
          <a:effectLst>
            <a:outerShdw sx="100000" sy="100000" kx="0" ky="0" algn="bl" rotWithShape="0" blurRad="152400" dist="38100" dir="8100000">
              <a:srgbClr val="8A706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" y="3337560"/>
            <a:ext cx="3803904" cy="36576"/>
          </a:xfrm>
          <a:prstGeom prst="roundRect">
            <a:avLst>
              <a:gd name="adj" fmla="val 300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392424"/>
            <a:ext cx="54864" cy="1261872"/>
          </a:xfrm>
          <a:prstGeom prst="rect">
            <a:avLst/>
          </a:prstGeom>
          <a:solidFill>
            <a:srgbClr val="8FAF6A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4564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AF6A"/>
                </a:solidFill>
              </a:rPr>
              <a:t>Decision Logic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8368" y="3794760"/>
            <a:ext cx="3474720" cy="237744"/>
          </a:xfrm>
          <a:prstGeom prst="roundRect">
            <a:avLst>
              <a:gd name="adj" fmla="val 19231"/>
            </a:avLst>
          </a:prstGeom>
          <a:solidFill>
            <a:srgbClr val="8FAF6A">
              <a:alpha val="10000"/>
            </a:srgbClr>
          </a:solidFill>
          <a:ln w="5080">
            <a:solidFill>
              <a:srgbClr val="8FAF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3813048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F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&lt; 0.5  →  BENIGN → forward to agent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58368" y="4087368"/>
            <a:ext cx="3474720" cy="237744"/>
          </a:xfrm>
          <a:prstGeom prst="roundRect">
            <a:avLst>
              <a:gd name="adj" fmla="val 19231"/>
            </a:avLst>
          </a:prstGeom>
          <a:solidFill>
            <a:srgbClr val="D4A860">
              <a:alpha val="10000"/>
            </a:srgbClr>
          </a:solidFill>
          <a:ln w="5080">
            <a:solidFill>
              <a:srgbClr val="D4A8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4105656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A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≥ 0.5  →  INJECTION → block request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58368" y="4379976"/>
            <a:ext cx="3474720" cy="237744"/>
          </a:xfrm>
          <a:prstGeom prst="roundRect">
            <a:avLst>
              <a:gd name="adj" fmla="val 19231"/>
            </a:avLst>
          </a:prstGeom>
          <a:solidFill>
            <a:srgbClr val="EF4444">
              <a:alpha val="10000"/>
            </a:srgbClr>
          </a:solidFill>
          <a:ln w="508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4398264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 error  →  fail-closed → block request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480560" y="1371600"/>
            <a:ext cx="4206240" cy="3337560"/>
          </a:xfrm>
          <a:prstGeom prst="roundRect">
            <a:avLst>
              <a:gd name="adj" fmla="val 3288"/>
            </a:avLst>
          </a:prstGeom>
          <a:solidFill>
            <a:srgbClr val="EDE5D8"/>
          </a:solidFill>
          <a:ln w="12700">
            <a:solidFill>
              <a:srgbClr val="C8B89A"/>
            </a:solidFill>
            <a:prstDash val="solid"/>
          </a:ln>
          <a:effectLst>
            <a:outerShdw sx="100000" sy="100000" kx="0" ky="0" algn="bl" rotWithShape="0" blurRad="152400" dist="38100" dir="8100000">
              <a:srgbClr val="8A706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498848" y="1371600"/>
            <a:ext cx="4169664" cy="36576"/>
          </a:xfrm>
          <a:prstGeom prst="roundRect">
            <a:avLst>
              <a:gd name="adj" fmla="val 300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35424" y="1371600"/>
            <a:ext cx="4096512" cy="54864"/>
          </a:xfrm>
          <a:prstGeom prst="rect">
            <a:avLst/>
          </a:prstGeom>
          <a:solidFill>
            <a:srgbClr val="D4855A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14904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855A"/>
                </a:solidFill>
              </a:rPr>
              <a:t>Design Principles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17720" y="1874520"/>
            <a:ext cx="3931920" cy="475488"/>
          </a:xfrm>
          <a:prstGeom prst="roundRect">
            <a:avLst>
              <a:gd name="adj" fmla="val 23077"/>
            </a:avLst>
          </a:prstGeom>
          <a:solidFill>
            <a:srgbClr val="EDE5D8"/>
          </a:solidFill>
          <a:ln w="12700">
            <a:solidFill>
              <a:srgbClr val="C8B89A"/>
            </a:solidFill>
            <a:prstDash val="solid"/>
          </a:ln>
          <a:effectLst>
            <a:outerShdw sx="100000" sy="100000" kx="0" ky="0" algn="bl" rotWithShape="0" blurRad="152400" dist="38100" dir="8100000">
              <a:srgbClr val="8A706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36008" y="1874520"/>
            <a:ext cx="3895344" cy="36576"/>
          </a:xfrm>
          <a:prstGeom prst="roundRect">
            <a:avLst>
              <a:gd name="adj" fmla="val 300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17720" y="1929384"/>
            <a:ext cx="54864" cy="365760"/>
          </a:xfrm>
          <a:prstGeom prst="rect">
            <a:avLst/>
          </a:prstGeom>
          <a:solidFill>
            <a:srgbClr val="D4855A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193852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855A"/>
                </a:solidFill>
              </a:rPr>
              <a:t>Fail-closed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126480" y="193852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4535"/>
                </a:solidFill>
              </a:rPr>
              <a:t>any error = unsafe — never passes through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17720" y="2441448"/>
            <a:ext cx="3931920" cy="475488"/>
          </a:xfrm>
          <a:prstGeom prst="roundRect">
            <a:avLst>
              <a:gd name="adj" fmla="val 23077"/>
            </a:avLst>
          </a:prstGeom>
          <a:solidFill>
            <a:srgbClr val="EDE5D8"/>
          </a:solidFill>
          <a:ln w="12700">
            <a:solidFill>
              <a:srgbClr val="C8B89A"/>
            </a:solidFill>
            <a:prstDash val="solid"/>
          </a:ln>
          <a:effectLst>
            <a:outerShdw sx="100000" sy="100000" kx="0" ky="0" algn="bl" rotWithShape="0" blurRad="152400" dist="38100" dir="8100000">
              <a:srgbClr val="8A706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36008" y="2441448"/>
            <a:ext cx="3895344" cy="36576"/>
          </a:xfrm>
          <a:prstGeom prst="roundRect">
            <a:avLst>
              <a:gd name="adj" fmla="val 300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17720" y="2496312"/>
            <a:ext cx="54864" cy="365760"/>
          </a:xfrm>
          <a:prstGeom prst="rect">
            <a:avLst/>
          </a:prstGeom>
          <a:solidFill>
            <a:srgbClr val="D4855A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2505456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855A"/>
                </a:solidFill>
              </a:rPr>
              <a:t>No caching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126480" y="250545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4535"/>
                </a:solidFill>
              </a:rPr>
              <a:t>every message is independently screened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17720" y="3008376"/>
            <a:ext cx="3931920" cy="475488"/>
          </a:xfrm>
          <a:prstGeom prst="roundRect">
            <a:avLst>
              <a:gd name="adj" fmla="val 23077"/>
            </a:avLst>
          </a:prstGeom>
          <a:solidFill>
            <a:srgbClr val="EDE5D8"/>
          </a:solidFill>
          <a:ln w="12700">
            <a:solidFill>
              <a:srgbClr val="C8B89A"/>
            </a:solidFill>
            <a:prstDash val="solid"/>
          </a:ln>
          <a:effectLst>
            <a:outerShdw sx="100000" sy="100000" kx="0" ky="0" algn="bl" rotWithShape="0" blurRad="152400" dist="38100" dir="8100000">
              <a:srgbClr val="8A706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36008" y="3008376"/>
            <a:ext cx="3895344" cy="36576"/>
          </a:xfrm>
          <a:prstGeom prst="roundRect">
            <a:avLst>
              <a:gd name="adj" fmla="val 300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17720" y="3063240"/>
            <a:ext cx="54864" cy="365760"/>
          </a:xfrm>
          <a:prstGeom prst="rect">
            <a:avLst/>
          </a:prstGeom>
          <a:solidFill>
            <a:srgbClr val="D4855A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3072384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855A"/>
                </a:solidFill>
              </a:rPr>
              <a:t>Low overhead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126480" y="307238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4535"/>
                </a:solidFill>
              </a:rPr>
              <a:t>adds no perceptible latency to chat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617720" y="3575304"/>
            <a:ext cx="3931920" cy="475488"/>
          </a:xfrm>
          <a:prstGeom prst="roundRect">
            <a:avLst>
              <a:gd name="adj" fmla="val 23077"/>
            </a:avLst>
          </a:prstGeom>
          <a:solidFill>
            <a:srgbClr val="EDE5D8"/>
          </a:solidFill>
          <a:ln w="12700">
            <a:solidFill>
              <a:srgbClr val="C8B89A"/>
            </a:solidFill>
            <a:prstDash val="solid"/>
          </a:ln>
          <a:effectLst>
            <a:outerShdw sx="100000" sy="100000" kx="0" ky="0" algn="bl" rotWithShape="0" blurRad="152400" dist="38100" dir="8100000">
              <a:srgbClr val="8A7060">
                <a:alpha val="1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636008" y="3575304"/>
            <a:ext cx="3895344" cy="36576"/>
          </a:xfrm>
          <a:prstGeom prst="roundRect">
            <a:avLst>
              <a:gd name="adj" fmla="val 300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17720" y="3630168"/>
            <a:ext cx="54864" cy="365760"/>
          </a:xfrm>
          <a:prstGeom prst="rect">
            <a:avLst/>
          </a:prstGeom>
          <a:solidFill>
            <a:srgbClr val="D4855A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00600" y="363931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855A"/>
                </a:solidFill>
              </a:rPr>
              <a:t>Decoupled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126480" y="363931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4535"/>
                </a:solidFill>
              </a:rPr>
              <a:t>independent of agent model — swap either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617720" y="4142232"/>
            <a:ext cx="3931920" cy="475488"/>
          </a:xfrm>
          <a:prstGeom prst="roundRect">
            <a:avLst>
              <a:gd name="adj" fmla="val 23077"/>
            </a:avLst>
          </a:prstGeom>
          <a:solidFill>
            <a:srgbClr val="EDE5D8"/>
          </a:solidFill>
          <a:ln w="12700">
            <a:solidFill>
              <a:srgbClr val="C8B89A"/>
            </a:solidFill>
            <a:prstDash val="solid"/>
          </a:ln>
          <a:effectLst>
            <a:outerShdw sx="100000" sy="100000" kx="0" ky="0" algn="bl" rotWithShape="0" blurRad="152400" dist="38100" dir="8100000">
              <a:srgbClr val="8A7060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636008" y="4142232"/>
            <a:ext cx="3895344" cy="36576"/>
          </a:xfrm>
          <a:prstGeom prst="roundRect">
            <a:avLst>
              <a:gd name="adj" fmla="val 300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617720" y="4197096"/>
            <a:ext cx="54864" cy="365760"/>
          </a:xfrm>
          <a:prstGeom prst="rect">
            <a:avLst/>
          </a:prstGeom>
          <a:solidFill>
            <a:srgbClr val="D4855A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00600" y="42062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855A"/>
                </a:solidFill>
              </a:rPr>
              <a:t>Layered security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126480" y="42062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4535"/>
                </a:solidFill>
              </a:rPr>
              <a:t>complements SQL blocklist in query_db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57200" y="4663440"/>
            <a:ext cx="8229600" cy="347472"/>
          </a:xfrm>
          <a:prstGeom prst="roundRect">
            <a:avLst>
              <a:gd name="adj" fmla="val 31579"/>
            </a:avLst>
          </a:prstGeom>
          <a:solidFill>
            <a:srgbClr val="EDE5D8"/>
          </a:solidFill>
          <a:ln w="12700">
            <a:solidFill>
              <a:srgbClr val="C8B89A"/>
            </a:solidFill>
            <a:prstDash val="solid"/>
          </a:ln>
          <a:effectLst>
            <a:outerShdw sx="100000" sy="100000" kx="0" ky="0" algn="bl" rotWithShape="0" blurRad="152400" dist="38100" dir="8100000">
              <a:srgbClr val="8A7060">
                <a:alpha val="1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75488" y="4663440"/>
            <a:ext cx="8193024" cy="36576"/>
          </a:xfrm>
          <a:prstGeom prst="roundRect">
            <a:avLst>
              <a:gd name="adj" fmla="val 300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12064" y="4663440"/>
            <a:ext cx="8119872" cy="54864"/>
          </a:xfrm>
          <a:prstGeom prst="rect">
            <a:avLst/>
          </a:prstGeom>
          <a:solidFill>
            <a:srgbClr val="D4A86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94360" y="470916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4A860"/>
                </a:solidFill>
              </a:rPr>
              <a:t>Prompt Guard  ·  SQL Blocklist  ·  Read-only Tools  ·  Schema-scoped Prompt  =  defence in depth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 Hub — AI-Augmented HR Workflow</dc:title>
  <dc:subject>PptxGenJS Presentation</dc:subject>
  <dc:creator>PptxGenJS</dc:creator>
  <cp:lastModifiedBy>PptxGenJS</cp:lastModifiedBy>
  <cp:revision>1</cp:revision>
  <dcterms:created xsi:type="dcterms:W3CDTF">2026-04-17T08:20:18Z</dcterms:created>
  <dcterms:modified xsi:type="dcterms:W3CDTF">2026-04-17T08:20:18Z</dcterms:modified>
</cp:coreProperties>
</file>